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8" r:id="rId2"/>
    <p:sldId id="286" r:id="rId3"/>
    <p:sldId id="259" r:id="rId4"/>
    <p:sldId id="263" r:id="rId5"/>
    <p:sldId id="291" r:id="rId6"/>
    <p:sldId id="292" r:id="rId7"/>
    <p:sldId id="293" r:id="rId8"/>
    <p:sldId id="290" r:id="rId9"/>
    <p:sldId id="288" r:id="rId10"/>
    <p:sldId id="262" r:id="rId11"/>
    <p:sldId id="268" r:id="rId12"/>
    <p:sldId id="266" r:id="rId13"/>
    <p:sldId id="271" r:id="rId14"/>
    <p:sldId id="272" r:id="rId15"/>
    <p:sldId id="273" r:id="rId16"/>
    <p:sldId id="269" r:id="rId17"/>
    <p:sldId id="274" r:id="rId18"/>
    <p:sldId id="275" r:id="rId19"/>
    <p:sldId id="276" r:id="rId20"/>
    <p:sldId id="278" r:id="rId21"/>
    <p:sldId id="279" r:id="rId22"/>
    <p:sldId id="280" r:id="rId23"/>
    <p:sldId id="281" r:id="rId24"/>
    <p:sldId id="282" r:id="rId25"/>
    <p:sldId id="283" r:id="rId26"/>
    <p:sldId id="284" r:id="rId27"/>
    <p:sldId id="285" r:id="rId28"/>
    <p:sldId id="264" r:id="rId29"/>
    <p:sldId id="28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74" autoAdjust="0"/>
    <p:restoredTop sz="94660"/>
  </p:normalViewPr>
  <p:slideViewPr>
    <p:cSldViewPr snapToGrid="0">
      <p:cViewPr varScale="1">
        <p:scale>
          <a:sx n="73" d="100"/>
          <a:sy n="73" d="100"/>
        </p:scale>
        <p:origin x="39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DB343A-DCE6-4DCA-8769-1046E6AA3A8D}"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4DDD69-0E75-4C3B-9A66-21554C53AA0F}" type="slidenum">
              <a:rPr lang="en-US" smtClean="0"/>
              <a:t>‹#›</a:t>
            </a:fld>
            <a:endParaRPr lang="en-US"/>
          </a:p>
        </p:txBody>
      </p:sp>
    </p:spTree>
    <p:extLst>
      <p:ext uri="{BB962C8B-B14F-4D97-AF65-F5344CB8AC3E}">
        <p14:creationId xmlns:p14="http://schemas.microsoft.com/office/powerpoint/2010/main" val="1577137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4DDD69-0E75-4C3B-9A66-21554C53AA0F}" type="slidenum">
              <a:rPr lang="en-US" smtClean="0"/>
              <a:t>15</a:t>
            </a:fld>
            <a:endParaRPr lang="en-US"/>
          </a:p>
        </p:txBody>
      </p:sp>
    </p:spTree>
    <p:extLst>
      <p:ext uri="{BB962C8B-B14F-4D97-AF65-F5344CB8AC3E}">
        <p14:creationId xmlns:p14="http://schemas.microsoft.com/office/powerpoint/2010/main" val="4013112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DF24A-C9CF-D0B4-FCA4-ABE0024CC9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7CA92A-C1D4-20E2-353C-DB4AC089DC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0F18DE-12EE-932C-4A29-6FC49DEDECD6}"/>
              </a:ext>
            </a:extLst>
          </p:cNvPr>
          <p:cNvSpPr>
            <a:spLocks noGrp="1"/>
          </p:cNvSpPr>
          <p:nvPr>
            <p:ph type="dt" sz="half" idx="10"/>
          </p:nvPr>
        </p:nvSpPr>
        <p:spPr/>
        <p:txBody>
          <a:bodyPr/>
          <a:lstStyle/>
          <a:p>
            <a:fld id="{E2E3FE69-4081-4909-99A1-6DB44E4836E4}" type="datetimeFigureOut">
              <a:rPr lang="en-US" smtClean="0"/>
              <a:t>4/30/2026</a:t>
            </a:fld>
            <a:endParaRPr lang="en-US"/>
          </a:p>
        </p:txBody>
      </p:sp>
      <p:sp>
        <p:nvSpPr>
          <p:cNvPr id="5" name="Footer Placeholder 4">
            <a:extLst>
              <a:ext uri="{FF2B5EF4-FFF2-40B4-BE49-F238E27FC236}">
                <a16:creationId xmlns:a16="http://schemas.microsoft.com/office/drawing/2014/main" id="{25505E15-7EF7-C5DD-9C5A-8041CB392C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A54016-99C7-88DB-E15A-EA57B03467B2}"/>
              </a:ext>
            </a:extLst>
          </p:cNvPr>
          <p:cNvSpPr>
            <a:spLocks noGrp="1"/>
          </p:cNvSpPr>
          <p:nvPr>
            <p:ph type="sldNum" sz="quarter" idx="12"/>
          </p:nvPr>
        </p:nvSpPr>
        <p:spPr/>
        <p:txBody>
          <a:bodyPr/>
          <a:lstStyle/>
          <a:p>
            <a:fld id="{EEA5463F-6669-4F1F-8B1D-91313CBFCC19}" type="slidenum">
              <a:rPr lang="en-US" smtClean="0"/>
              <a:t>‹#›</a:t>
            </a:fld>
            <a:endParaRPr lang="en-US"/>
          </a:p>
        </p:txBody>
      </p:sp>
    </p:spTree>
    <p:extLst>
      <p:ext uri="{BB962C8B-B14F-4D97-AF65-F5344CB8AC3E}">
        <p14:creationId xmlns:p14="http://schemas.microsoft.com/office/powerpoint/2010/main" val="1980404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326F9-7C64-82E2-23C3-F007A463AA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64CF06-AC7B-FEB5-372B-6F9B97EF81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9329D-C460-4638-056A-3F1E21E3FBE9}"/>
              </a:ext>
            </a:extLst>
          </p:cNvPr>
          <p:cNvSpPr>
            <a:spLocks noGrp="1"/>
          </p:cNvSpPr>
          <p:nvPr>
            <p:ph type="dt" sz="half" idx="10"/>
          </p:nvPr>
        </p:nvSpPr>
        <p:spPr/>
        <p:txBody>
          <a:bodyPr/>
          <a:lstStyle/>
          <a:p>
            <a:fld id="{E2E3FE69-4081-4909-99A1-6DB44E4836E4}" type="datetimeFigureOut">
              <a:rPr lang="en-US" smtClean="0"/>
              <a:t>4/30/2026</a:t>
            </a:fld>
            <a:endParaRPr lang="en-US"/>
          </a:p>
        </p:txBody>
      </p:sp>
      <p:sp>
        <p:nvSpPr>
          <p:cNvPr id="5" name="Footer Placeholder 4">
            <a:extLst>
              <a:ext uri="{FF2B5EF4-FFF2-40B4-BE49-F238E27FC236}">
                <a16:creationId xmlns:a16="http://schemas.microsoft.com/office/drawing/2014/main" id="{44C1FEA0-2942-6A66-4C9A-2AB7AAF8B5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F01F5B-DC7E-28C1-BCD7-EF738D7AB5E2}"/>
              </a:ext>
            </a:extLst>
          </p:cNvPr>
          <p:cNvSpPr>
            <a:spLocks noGrp="1"/>
          </p:cNvSpPr>
          <p:nvPr>
            <p:ph type="sldNum" sz="quarter" idx="12"/>
          </p:nvPr>
        </p:nvSpPr>
        <p:spPr/>
        <p:txBody>
          <a:bodyPr/>
          <a:lstStyle/>
          <a:p>
            <a:fld id="{EEA5463F-6669-4F1F-8B1D-91313CBFCC19}" type="slidenum">
              <a:rPr lang="en-US" smtClean="0"/>
              <a:t>‹#›</a:t>
            </a:fld>
            <a:endParaRPr lang="en-US"/>
          </a:p>
        </p:txBody>
      </p:sp>
    </p:spTree>
    <p:extLst>
      <p:ext uri="{BB962C8B-B14F-4D97-AF65-F5344CB8AC3E}">
        <p14:creationId xmlns:p14="http://schemas.microsoft.com/office/powerpoint/2010/main" val="414239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51C37-0E08-CE35-CF51-774549CFD7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619D70-8458-863B-ABEC-C31008B4F54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283300-49E1-2972-2450-7D8FC2C85D89}"/>
              </a:ext>
            </a:extLst>
          </p:cNvPr>
          <p:cNvSpPr>
            <a:spLocks noGrp="1"/>
          </p:cNvSpPr>
          <p:nvPr>
            <p:ph type="dt" sz="half" idx="10"/>
          </p:nvPr>
        </p:nvSpPr>
        <p:spPr/>
        <p:txBody>
          <a:bodyPr/>
          <a:lstStyle/>
          <a:p>
            <a:fld id="{E2E3FE69-4081-4909-99A1-6DB44E4836E4}" type="datetimeFigureOut">
              <a:rPr lang="en-US" smtClean="0"/>
              <a:t>4/30/2026</a:t>
            </a:fld>
            <a:endParaRPr lang="en-US"/>
          </a:p>
        </p:txBody>
      </p:sp>
      <p:sp>
        <p:nvSpPr>
          <p:cNvPr id="5" name="Footer Placeholder 4">
            <a:extLst>
              <a:ext uri="{FF2B5EF4-FFF2-40B4-BE49-F238E27FC236}">
                <a16:creationId xmlns:a16="http://schemas.microsoft.com/office/drawing/2014/main" id="{B0169E85-0532-93D0-C755-5FC9C957BA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87A2AB-B0FE-9EE7-E0DD-C975AED5CFFA}"/>
              </a:ext>
            </a:extLst>
          </p:cNvPr>
          <p:cNvSpPr>
            <a:spLocks noGrp="1"/>
          </p:cNvSpPr>
          <p:nvPr>
            <p:ph type="sldNum" sz="quarter" idx="12"/>
          </p:nvPr>
        </p:nvSpPr>
        <p:spPr/>
        <p:txBody>
          <a:bodyPr/>
          <a:lstStyle/>
          <a:p>
            <a:fld id="{EEA5463F-6669-4F1F-8B1D-91313CBFCC19}" type="slidenum">
              <a:rPr lang="en-US" smtClean="0"/>
              <a:t>‹#›</a:t>
            </a:fld>
            <a:endParaRPr lang="en-US"/>
          </a:p>
        </p:txBody>
      </p:sp>
    </p:spTree>
    <p:extLst>
      <p:ext uri="{BB962C8B-B14F-4D97-AF65-F5344CB8AC3E}">
        <p14:creationId xmlns:p14="http://schemas.microsoft.com/office/powerpoint/2010/main" val="182369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5273E-4DA5-5F05-85DF-877F5FC095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BF9C56-5B18-8D2C-01DC-29930900FC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7FB416-C2B8-7BF8-1D37-1BF5C44986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CF38FB9-8908-2EA3-7A20-CA0873793EDD}"/>
              </a:ext>
            </a:extLst>
          </p:cNvPr>
          <p:cNvSpPr>
            <a:spLocks noGrp="1"/>
          </p:cNvSpPr>
          <p:nvPr>
            <p:ph type="dt" sz="half" idx="10"/>
          </p:nvPr>
        </p:nvSpPr>
        <p:spPr/>
        <p:txBody>
          <a:bodyPr/>
          <a:lstStyle/>
          <a:p>
            <a:fld id="{E2E3FE69-4081-4909-99A1-6DB44E4836E4}" type="datetimeFigureOut">
              <a:rPr lang="en-US" smtClean="0"/>
              <a:t>4/30/2026</a:t>
            </a:fld>
            <a:endParaRPr lang="en-US"/>
          </a:p>
        </p:txBody>
      </p:sp>
      <p:sp>
        <p:nvSpPr>
          <p:cNvPr id="6" name="Footer Placeholder 5">
            <a:extLst>
              <a:ext uri="{FF2B5EF4-FFF2-40B4-BE49-F238E27FC236}">
                <a16:creationId xmlns:a16="http://schemas.microsoft.com/office/drawing/2014/main" id="{DF733702-7339-B87B-2154-E3B3938E27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EFD34C-9E90-A332-A98B-0A42720E4F9E}"/>
              </a:ext>
            </a:extLst>
          </p:cNvPr>
          <p:cNvSpPr>
            <a:spLocks noGrp="1"/>
          </p:cNvSpPr>
          <p:nvPr>
            <p:ph type="sldNum" sz="quarter" idx="12"/>
          </p:nvPr>
        </p:nvSpPr>
        <p:spPr/>
        <p:txBody>
          <a:bodyPr/>
          <a:lstStyle/>
          <a:p>
            <a:fld id="{EEA5463F-6669-4F1F-8B1D-91313CBFCC19}" type="slidenum">
              <a:rPr lang="en-US" smtClean="0"/>
              <a:t>‹#›</a:t>
            </a:fld>
            <a:endParaRPr lang="en-US"/>
          </a:p>
        </p:txBody>
      </p:sp>
    </p:spTree>
    <p:extLst>
      <p:ext uri="{BB962C8B-B14F-4D97-AF65-F5344CB8AC3E}">
        <p14:creationId xmlns:p14="http://schemas.microsoft.com/office/powerpoint/2010/main" val="620147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BE03C-5537-B0F1-A29D-E9203152C1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5575EB-5A98-E60C-8B82-28349A6F55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F4692A-8111-3A87-8DCC-31C80FB5D0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CE5F50-45D4-1D78-49CB-6A5462C027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C6773D-1A4A-C7D1-9BDD-B83C382DDA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10231C-1D97-1443-27AC-FD21D03CFBE0}"/>
              </a:ext>
            </a:extLst>
          </p:cNvPr>
          <p:cNvSpPr>
            <a:spLocks noGrp="1"/>
          </p:cNvSpPr>
          <p:nvPr>
            <p:ph type="dt" sz="half" idx="10"/>
          </p:nvPr>
        </p:nvSpPr>
        <p:spPr/>
        <p:txBody>
          <a:bodyPr/>
          <a:lstStyle/>
          <a:p>
            <a:fld id="{E2E3FE69-4081-4909-99A1-6DB44E4836E4}" type="datetimeFigureOut">
              <a:rPr lang="en-US" smtClean="0"/>
              <a:t>4/30/2026</a:t>
            </a:fld>
            <a:endParaRPr lang="en-US"/>
          </a:p>
        </p:txBody>
      </p:sp>
      <p:sp>
        <p:nvSpPr>
          <p:cNvPr id="8" name="Footer Placeholder 7">
            <a:extLst>
              <a:ext uri="{FF2B5EF4-FFF2-40B4-BE49-F238E27FC236}">
                <a16:creationId xmlns:a16="http://schemas.microsoft.com/office/drawing/2014/main" id="{EB215823-0A75-D038-77A4-258C153BAB0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9738EA-D3C8-1278-F950-4ACABD70ECB4}"/>
              </a:ext>
            </a:extLst>
          </p:cNvPr>
          <p:cNvSpPr>
            <a:spLocks noGrp="1"/>
          </p:cNvSpPr>
          <p:nvPr>
            <p:ph type="sldNum" sz="quarter" idx="12"/>
          </p:nvPr>
        </p:nvSpPr>
        <p:spPr/>
        <p:txBody>
          <a:bodyPr/>
          <a:lstStyle/>
          <a:p>
            <a:fld id="{EEA5463F-6669-4F1F-8B1D-91313CBFCC19}" type="slidenum">
              <a:rPr lang="en-US" smtClean="0"/>
              <a:t>‹#›</a:t>
            </a:fld>
            <a:endParaRPr lang="en-US"/>
          </a:p>
        </p:txBody>
      </p:sp>
    </p:spTree>
    <p:extLst>
      <p:ext uri="{BB962C8B-B14F-4D97-AF65-F5344CB8AC3E}">
        <p14:creationId xmlns:p14="http://schemas.microsoft.com/office/powerpoint/2010/main" val="3820682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6ABC6-5655-6972-AD7D-74B27B0F8B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ECB52E-706A-209E-E677-08EBF3281675}"/>
              </a:ext>
            </a:extLst>
          </p:cNvPr>
          <p:cNvSpPr>
            <a:spLocks noGrp="1"/>
          </p:cNvSpPr>
          <p:nvPr>
            <p:ph type="dt" sz="half" idx="10"/>
          </p:nvPr>
        </p:nvSpPr>
        <p:spPr/>
        <p:txBody>
          <a:bodyPr/>
          <a:lstStyle/>
          <a:p>
            <a:fld id="{E2E3FE69-4081-4909-99A1-6DB44E4836E4}" type="datetimeFigureOut">
              <a:rPr lang="en-US" smtClean="0"/>
              <a:t>4/30/2026</a:t>
            </a:fld>
            <a:endParaRPr lang="en-US"/>
          </a:p>
        </p:txBody>
      </p:sp>
      <p:sp>
        <p:nvSpPr>
          <p:cNvPr id="4" name="Footer Placeholder 3">
            <a:extLst>
              <a:ext uri="{FF2B5EF4-FFF2-40B4-BE49-F238E27FC236}">
                <a16:creationId xmlns:a16="http://schemas.microsoft.com/office/drawing/2014/main" id="{AD413415-3E0F-EEAC-C75A-D33BC49070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626F8F-2296-FAC4-9219-D7E95E2606D2}"/>
              </a:ext>
            </a:extLst>
          </p:cNvPr>
          <p:cNvSpPr>
            <a:spLocks noGrp="1"/>
          </p:cNvSpPr>
          <p:nvPr>
            <p:ph type="sldNum" sz="quarter" idx="12"/>
          </p:nvPr>
        </p:nvSpPr>
        <p:spPr/>
        <p:txBody>
          <a:bodyPr/>
          <a:lstStyle/>
          <a:p>
            <a:fld id="{EEA5463F-6669-4F1F-8B1D-91313CBFCC19}" type="slidenum">
              <a:rPr lang="en-US" smtClean="0"/>
              <a:t>‹#›</a:t>
            </a:fld>
            <a:endParaRPr lang="en-US"/>
          </a:p>
        </p:txBody>
      </p:sp>
    </p:spTree>
    <p:extLst>
      <p:ext uri="{BB962C8B-B14F-4D97-AF65-F5344CB8AC3E}">
        <p14:creationId xmlns:p14="http://schemas.microsoft.com/office/powerpoint/2010/main" val="1936396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87190D-5D0A-593C-DD31-8A60320574B0}"/>
              </a:ext>
            </a:extLst>
          </p:cNvPr>
          <p:cNvSpPr>
            <a:spLocks noGrp="1"/>
          </p:cNvSpPr>
          <p:nvPr>
            <p:ph type="dt" sz="half" idx="10"/>
          </p:nvPr>
        </p:nvSpPr>
        <p:spPr/>
        <p:txBody>
          <a:bodyPr/>
          <a:lstStyle/>
          <a:p>
            <a:fld id="{E2E3FE69-4081-4909-99A1-6DB44E4836E4}" type="datetimeFigureOut">
              <a:rPr lang="en-US" smtClean="0"/>
              <a:t>4/30/2026</a:t>
            </a:fld>
            <a:endParaRPr lang="en-US"/>
          </a:p>
        </p:txBody>
      </p:sp>
      <p:sp>
        <p:nvSpPr>
          <p:cNvPr id="3" name="Footer Placeholder 2">
            <a:extLst>
              <a:ext uri="{FF2B5EF4-FFF2-40B4-BE49-F238E27FC236}">
                <a16:creationId xmlns:a16="http://schemas.microsoft.com/office/drawing/2014/main" id="{567E728A-BC50-E944-0ECF-0669E191AB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F47890-EFB7-3EB7-FBB7-C2E6931F41FC}"/>
              </a:ext>
            </a:extLst>
          </p:cNvPr>
          <p:cNvSpPr>
            <a:spLocks noGrp="1"/>
          </p:cNvSpPr>
          <p:nvPr>
            <p:ph type="sldNum" sz="quarter" idx="12"/>
          </p:nvPr>
        </p:nvSpPr>
        <p:spPr/>
        <p:txBody>
          <a:bodyPr/>
          <a:lstStyle/>
          <a:p>
            <a:fld id="{EEA5463F-6669-4F1F-8B1D-91313CBFCC19}" type="slidenum">
              <a:rPr lang="en-US" smtClean="0"/>
              <a:t>‹#›</a:t>
            </a:fld>
            <a:endParaRPr lang="en-US"/>
          </a:p>
        </p:txBody>
      </p:sp>
    </p:spTree>
    <p:extLst>
      <p:ext uri="{BB962C8B-B14F-4D97-AF65-F5344CB8AC3E}">
        <p14:creationId xmlns:p14="http://schemas.microsoft.com/office/powerpoint/2010/main" val="1394852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6D2A1-2193-7ACE-49FF-C88D261317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CB331F-3EE5-F7C5-2B41-ECD2A384BE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769562-7959-AF4A-8FD1-A43C871A8A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5D9E8F-9135-8000-49A6-F3F4FA5C1886}"/>
              </a:ext>
            </a:extLst>
          </p:cNvPr>
          <p:cNvSpPr>
            <a:spLocks noGrp="1"/>
          </p:cNvSpPr>
          <p:nvPr>
            <p:ph type="dt" sz="half" idx="10"/>
          </p:nvPr>
        </p:nvSpPr>
        <p:spPr/>
        <p:txBody>
          <a:bodyPr/>
          <a:lstStyle/>
          <a:p>
            <a:fld id="{E2E3FE69-4081-4909-99A1-6DB44E4836E4}" type="datetimeFigureOut">
              <a:rPr lang="en-US" smtClean="0"/>
              <a:t>4/30/2026</a:t>
            </a:fld>
            <a:endParaRPr lang="en-US"/>
          </a:p>
        </p:txBody>
      </p:sp>
      <p:sp>
        <p:nvSpPr>
          <p:cNvPr id="6" name="Footer Placeholder 5">
            <a:extLst>
              <a:ext uri="{FF2B5EF4-FFF2-40B4-BE49-F238E27FC236}">
                <a16:creationId xmlns:a16="http://schemas.microsoft.com/office/drawing/2014/main" id="{017412E8-508A-679B-AFBA-586115D40B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576328-9E59-8FF0-6BC2-CBC5E9067809}"/>
              </a:ext>
            </a:extLst>
          </p:cNvPr>
          <p:cNvSpPr>
            <a:spLocks noGrp="1"/>
          </p:cNvSpPr>
          <p:nvPr>
            <p:ph type="sldNum" sz="quarter" idx="12"/>
          </p:nvPr>
        </p:nvSpPr>
        <p:spPr/>
        <p:txBody>
          <a:bodyPr/>
          <a:lstStyle/>
          <a:p>
            <a:fld id="{EEA5463F-6669-4F1F-8B1D-91313CBFCC19}" type="slidenum">
              <a:rPr lang="en-US" smtClean="0"/>
              <a:t>‹#›</a:t>
            </a:fld>
            <a:endParaRPr lang="en-US"/>
          </a:p>
        </p:txBody>
      </p:sp>
    </p:spTree>
    <p:extLst>
      <p:ext uri="{BB962C8B-B14F-4D97-AF65-F5344CB8AC3E}">
        <p14:creationId xmlns:p14="http://schemas.microsoft.com/office/powerpoint/2010/main" val="1856606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2DF7B-F8FD-3A92-296E-0CB1313CDE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94AD83-6119-4053-6A68-29D387B86C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7FD1CC-5DA7-6B9C-5A7B-16687C14A2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91D972-F11D-1AB3-6CF4-D1FA637C2597}"/>
              </a:ext>
            </a:extLst>
          </p:cNvPr>
          <p:cNvSpPr>
            <a:spLocks noGrp="1"/>
          </p:cNvSpPr>
          <p:nvPr>
            <p:ph type="dt" sz="half" idx="10"/>
          </p:nvPr>
        </p:nvSpPr>
        <p:spPr/>
        <p:txBody>
          <a:bodyPr/>
          <a:lstStyle/>
          <a:p>
            <a:fld id="{E2E3FE69-4081-4909-99A1-6DB44E4836E4}" type="datetimeFigureOut">
              <a:rPr lang="en-US" smtClean="0"/>
              <a:t>4/30/2026</a:t>
            </a:fld>
            <a:endParaRPr lang="en-US"/>
          </a:p>
        </p:txBody>
      </p:sp>
      <p:sp>
        <p:nvSpPr>
          <p:cNvPr id="6" name="Footer Placeholder 5">
            <a:extLst>
              <a:ext uri="{FF2B5EF4-FFF2-40B4-BE49-F238E27FC236}">
                <a16:creationId xmlns:a16="http://schemas.microsoft.com/office/drawing/2014/main" id="{E3E4FB85-F2CA-4380-A548-57FB3253EF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E7E531-D52C-E020-7902-B72CB93CDBE6}"/>
              </a:ext>
            </a:extLst>
          </p:cNvPr>
          <p:cNvSpPr>
            <a:spLocks noGrp="1"/>
          </p:cNvSpPr>
          <p:nvPr>
            <p:ph type="sldNum" sz="quarter" idx="12"/>
          </p:nvPr>
        </p:nvSpPr>
        <p:spPr/>
        <p:txBody>
          <a:bodyPr/>
          <a:lstStyle/>
          <a:p>
            <a:fld id="{EEA5463F-6669-4F1F-8B1D-91313CBFCC19}" type="slidenum">
              <a:rPr lang="en-US" smtClean="0"/>
              <a:t>‹#›</a:t>
            </a:fld>
            <a:endParaRPr lang="en-US"/>
          </a:p>
        </p:txBody>
      </p:sp>
    </p:spTree>
    <p:extLst>
      <p:ext uri="{BB962C8B-B14F-4D97-AF65-F5344CB8AC3E}">
        <p14:creationId xmlns:p14="http://schemas.microsoft.com/office/powerpoint/2010/main" val="3855470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CB6E7-841E-793C-A69D-4F70D060D0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5A049A-DA83-8FAF-F2AF-0DD3BB26CB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CAA820-128D-26BE-BFD7-3894738992A8}"/>
              </a:ext>
            </a:extLst>
          </p:cNvPr>
          <p:cNvSpPr>
            <a:spLocks noGrp="1"/>
          </p:cNvSpPr>
          <p:nvPr>
            <p:ph type="dt" sz="half" idx="10"/>
          </p:nvPr>
        </p:nvSpPr>
        <p:spPr/>
        <p:txBody>
          <a:bodyPr/>
          <a:lstStyle/>
          <a:p>
            <a:fld id="{E2E3FE69-4081-4909-99A1-6DB44E4836E4}" type="datetimeFigureOut">
              <a:rPr lang="en-US" smtClean="0"/>
              <a:t>4/30/2026</a:t>
            </a:fld>
            <a:endParaRPr lang="en-US"/>
          </a:p>
        </p:txBody>
      </p:sp>
      <p:sp>
        <p:nvSpPr>
          <p:cNvPr id="5" name="Footer Placeholder 4">
            <a:extLst>
              <a:ext uri="{FF2B5EF4-FFF2-40B4-BE49-F238E27FC236}">
                <a16:creationId xmlns:a16="http://schemas.microsoft.com/office/drawing/2014/main" id="{B95144A6-2F7B-354B-03CF-73F2E0ADE8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EF73DD-FA22-0EC1-A523-022701C37E44}"/>
              </a:ext>
            </a:extLst>
          </p:cNvPr>
          <p:cNvSpPr>
            <a:spLocks noGrp="1"/>
          </p:cNvSpPr>
          <p:nvPr>
            <p:ph type="sldNum" sz="quarter" idx="12"/>
          </p:nvPr>
        </p:nvSpPr>
        <p:spPr/>
        <p:txBody>
          <a:bodyPr/>
          <a:lstStyle/>
          <a:p>
            <a:fld id="{EEA5463F-6669-4F1F-8B1D-91313CBFCC19}" type="slidenum">
              <a:rPr lang="en-US" smtClean="0"/>
              <a:t>‹#›</a:t>
            </a:fld>
            <a:endParaRPr lang="en-US"/>
          </a:p>
        </p:txBody>
      </p:sp>
    </p:spTree>
    <p:extLst>
      <p:ext uri="{BB962C8B-B14F-4D97-AF65-F5344CB8AC3E}">
        <p14:creationId xmlns:p14="http://schemas.microsoft.com/office/powerpoint/2010/main" val="2168667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57A7EF-F9A5-994B-2343-EC932C7F2E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298034-6BA9-9130-8F26-72CE236C87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9BCD50-D961-8DD4-C163-C20A819FCB90}"/>
              </a:ext>
            </a:extLst>
          </p:cNvPr>
          <p:cNvSpPr>
            <a:spLocks noGrp="1"/>
          </p:cNvSpPr>
          <p:nvPr>
            <p:ph type="dt" sz="half" idx="10"/>
          </p:nvPr>
        </p:nvSpPr>
        <p:spPr/>
        <p:txBody>
          <a:bodyPr/>
          <a:lstStyle/>
          <a:p>
            <a:fld id="{E2E3FE69-4081-4909-99A1-6DB44E4836E4}" type="datetimeFigureOut">
              <a:rPr lang="en-US" smtClean="0"/>
              <a:t>4/30/2026</a:t>
            </a:fld>
            <a:endParaRPr lang="en-US"/>
          </a:p>
        </p:txBody>
      </p:sp>
      <p:sp>
        <p:nvSpPr>
          <p:cNvPr id="5" name="Footer Placeholder 4">
            <a:extLst>
              <a:ext uri="{FF2B5EF4-FFF2-40B4-BE49-F238E27FC236}">
                <a16:creationId xmlns:a16="http://schemas.microsoft.com/office/drawing/2014/main" id="{2B2B0D40-0AB2-22B6-2EF5-4E01D05DD7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8816C3-1D86-E9DA-3A0A-84735C1085B6}"/>
              </a:ext>
            </a:extLst>
          </p:cNvPr>
          <p:cNvSpPr>
            <a:spLocks noGrp="1"/>
          </p:cNvSpPr>
          <p:nvPr>
            <p:ph type="sldNum" sz="quarter" idx="12"/>
          </p:nvPr>
        </p:nvSpPr>
        <p:spPr/>
        <p:txBody>
          <a:bodyPr/>
          <a:lstStyle/>
          <a:p>
            <a:fld id="{EEA5463F-6669-4F1F-8B1D-91313CBFCC19}" type="slidenum">
              <a:rPr lang="en-US" smtClean="0"/>
              <a:t>‹#›</a:t>
            </a:fld>
            <a:endParaRPr lang="en-US"/>
          </a:p>
        </p:txBody>
      </p:sp>
    </p:spTree>
    <p:extLst>
      <p:ext uri="{BB962C8B-B14F-4D97-AF65-F5344CB8AC3E}">
        <p14:creationId xmlns:p14="http://schemas.microsoft.com/office/powerpoint/2010/main" val="1853407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F001BD-3963-FB26-C457-1602C8EC01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A73030-2FE7-6913-007C-708BFD6BF8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4F57D-1CD2-ADA0-5F02-195732B54C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E3FE69-4081-4909-99A1-6DB44E4836E4}" type="datetimeFigureOut">
              <a:rPr lang="en-US" smtClean="0"/>
              <a:t>4/30/2026</a:t>
            </a:fld>
            <a:endParaRPr lang="en-US"/>
          </a:p>
        </p:txBody>
      </p:sp>
      <p:sp>
        <p:nvSpPr>
          <p:cNvPr id="5" name="Footer Placeholder 4">
            <a:extLst>
              <a:ext uri="{FF2B5EF4-FFF2-40B4-BE49-F238E27FC236}">
                <a16:creationId xmlns:a16="http://schemas.microsoft.com/office/drawing/2014/main" id="{CC64F90F-DD75-901B-B388-5F09F88A61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E645CEF-EEC5-7867-22A3-CF7BFC9384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A5463F-6669-4F1F-8B1D-91313CBFCC19}" type="slidenum">
              <a:rPr lang="en-US" smtClean="0"/>
              <a:t>‹#›</a:t>
            </a:fld>
            <a:endParaRPr lang="en-US"/>
          </a:p>
        </p:txBody>
      </p:sp>
    </p:spTree>
    <p:extLst>
      <p:ext uri="{BB962C8B-B14F-4D97-AF65-F5344CB8AC3E}">
        <p14:creationId xmlns:p14="http://schemas.microsoft.com/office/powerpoint/2010/main" val="3576275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innovate-us.org/blog/utahs-journey-implementing-gemini-across-state-government" TargetMode="Externa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13CBA49-114C-1C83-9E0D-38FAB62F989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1ED9049-2FD7-CFD8-941E-3CFDFF287001}"/>
              </a:ext>
            </a:extLst>
          </p:cNvPr>
          <p:cNvSpPr txBox="1"/>
          <p:nvPr/>
        </p:nvSpPr>
        <p:spPr>
          <a:xfrm>
            <a:off x="436755" y="182078"/>
            <a:ext cx="11318483" cy="707886"/>
          </a:xfrm>
          <a:prstGeom prst="rect">
            <a:avLst/>
          </a:prstGeom>
          <a:noFill/>
        </p:spPr>
        <p:txBody>
          <a:bodyPr wrap="none" rtlCol="0">
            <a:spAutoFit/>
          </a:bodyPr>
          <a:lstStyle/>
          <a:p>
            <a:pPr algn="ctr"/>
            <a:r>
              <a:rPr lang="en-US" sz="4000" b="1" dirty="0">
                <a:solidFill>
                  <a:schemeClr val="bg1"/>
                </a:solidFill>
              </a:rPr>
              <a:t>AI Images, Audio, Video Production Introduction</a:t>
            </a:r>
          </a:p>
        </p:txBody>
      </p:sp>
      <p:sp>
        <p:nvSpPr>
          <p:cNvPr id="4" name="TextBox 3">
            <a:extLst>
              <a:ext uri="{FF2B5EF4-FFF2-40B4-BE49-F238E27FC236}">
                <a16:creationId xmlns:a16="http://schemas.microsoft.com/office/drawing/2014/main" id="{7106256F-2EE7-A0CD-9395-FE4F9E3B0630}"/>
              </a:ext>
            </a:extLst>
          </p:cNvPr>
          <p:cNvSpPr txBox="1"/>
          <p:nvPr/>
        </p:nvSpPr>
        <p:spPr>
          <a:xfrm>
            <a:off x="3861731" y="5826848"/>
            <a:ext cx="4468531" cy="861774"/>
          </a:xfrm>
          <a:prstGeom prst="rect">
            <a:avLst/>
          </a:prstGeom>
          <a:noFill/>
        </p:spPr>
        <p:txBody>
          <a:bodyPr wrap="none" rtlCol="0">
            <a:spAutoFit/>
          </a:bodyPr>
          <a:lstStyle/>
          <a:p>
            <a:pPr algn="ctr"/>
            <a:r>
              <a:rPr lang="en-US" sz="2400" b="1" dirty="0">
                <a:solidFill>
                  <a:schemeClr val="bg1"/>
                </a:solidFill>
              </a:rPr>
              <a:t>Bradford Communications LLC</a:t>
            </a:r>
          </a:p>
          <a:p>
            <a:pPr algn="ctr"/>
            <a:endParaRPr lang="en-US" sz="800" dirty="0">
              <a:solidFill>
                <a:schemeClr val="bg1"/>
              </a:solidFill>
            </a:endParaRPr>
          </a:p>
          <a:p>
            <a:pPr algn="ctr"/>
            <a:r>
              <a:rPr lang="en-US" dirty="0">
                <a:solidFill>
                  <a:schemeClr val="bg1"/>
                </a:solidFill>
              </a:rPr>
              <a:t>Rick Bradford</a:t>
            </a:r>
          </a:p>
        </p:txBody>
      </p:sp>
      <p:pic>
        <p:nvPicPr>
          <p:cNvPr id="6" name="Picture 5" descr="A logo with lines and dots&#10;&#10;AI-generated content may be incorrect.">
            <a:extLst>
              <a:ext uri="{FF2B5EF4-FFF2-40B4-BE49-F238E27FC236}">
                <a16:creationId xmlns:a16="http://schemas.microsoft.com/office/drawing/2014/main" id="{62B8CC26-CEA2-4545-9F89-D158234FEA28}"/>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2919489" y="1056782"/>
            <a:ext cx="6353021" cy="4673287"/>
          </a:xfrm>
          <a:prstGeom prst="rect">
            <a:avLst/>
          </a:prstGeom>
        </p:spPr>
      </p:pic>
      <p:pic>
        <p:nvPicPr>
          <p:cNvPr id="5" name="Picture 4">
            <a:extLst>
              <a:ext uri="{FF2B5EF4-FFF2-40B4-BE49-F238E27FC236}">
                <a16:creationId xmlns:a16="http://schemas.microsoft.com/office/drawing/2014/main" id="{2B639F71-7E2B-D42D-2D49-6CC4D22040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9485" y="960003"/>
            <a:ext cx="6353021" cy="4673287"/>
          </a:xfrm>
          <a:prstGeom prst="rect">
            <a:avLst/>
          </a:prstGeom>
        </p:spPr>
      </p:pic>
    </p:spTree>
    <p:extLst>
      <p:ext uri="{BB962C8B-B14F-4D97-AF65-F5344CB8AC3E}">
        <p14:creationId xmlns:p14="http://schemas.microsoft.com/office/powerpoint/2010/main" val="2363197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824575B-3839-7438-0E2F-89200970F6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81867E1-A38A-7300-3D0E-2FD6F7B2EDC9}"/>
              </a:ext>
            </a:extLst>
          </p:cNvPr>
          <p:cNvSpPr txBox="1"/>
          <p:nvPr/>
        </p:nvSpPr>
        <p:spPr>
          <a:xfrm>
            <a:off x="1507466" y="182078"/>
            <a:ext cx="9177064" cy="646331"/>
          </a:xfrm>
          <a:prstGeom prst="rect">
            <a:avLst/>
          </a:prstGeom>
          <a:noFill/>
        </p:spPr>
        <p:txBody>
          <a:bodyPr wrap="none" rtlCol="0">
            <a:spAutoFit/>
          </a:bodyPr>
          <a:lstStyle/>
          <a:p>
            <a:pPr algn="ctr"/>
            <a:r>
              <a:rPr lang="en-US" sz="3600" b="1" dirty="0">
                <a:solidFill>
                  <a:schemeClr val="bg1"/>
                </a:solidFill>
              </a:rPr>
              <a:t>Synthetic Intelligence &amp; Human Integration</a:t>
            </a:r>
          </a:p>
        </p:txBody>
      </p:sp>
      <p:sp>
        <p:nvSpPr>
          <p:cNvPr id="4" name="TextBox 3">
            <a:extLst>
              <a:ext uri="{FF2B5EF4-FFF2-40B4-BE49-F238E27FC236}">
                <a16:creationId xmlns:a16="http://schemas.microsoft.com/office/drawing/2014/main" id="{A0A18FF3-673B-2B88-8BD6-D596863C71A6}"/>
              </a:ext>
            </a:extLst>
          </p:cNvPr>
          <p:cNvSpPr txBox="1"/>
          <p:nvPr/>
        </p:nvSpPr>
        <p:spPr>
          <a:xfrm>
            <a:off x="3861731" y="5826848"/>
            <a:ext cx="4468531" cy="861774"/>
          </a:xfrm>
          <a:prstGeom prst="rect">
            <a:avLst/>
          </a:prstGeom>
          <a:noFill/>
        </p:spPr>
        <p:txBody>
          <a:bodyPr wrap="none" rtlCol="0">
            <a:spAutoFit/>
          </a:bodyPr>
          <a:lstStyle/>
          <a:p>
            <a:pPr algn="ctr"/>
            <a:r>
              <a:rPr lang="en-US" sz="2400" b="1" dirty="0">
                <a:solidFill>
                  <a:schemeClr val="bg1"/>
                </a:solidFill>
              </a:rPr>
              <a:t>Bradford Communications LLC</a:t>
            </a:r>
          </a:p>
          <a:p>
            <a:pPr algn="ctr"/>
            <a:endParaRPr lang="en-US" sz="800" dirty="0">
              <a:solidFill>
                <a:schemeClr val="bg1"/>
              </a:solidFill>
            </a:endParaRPr>
          </a:p>
          <a:p>
            <a:pPr algn="ctr"/>
            <a:r>
              <a:rPr lang="en-US" dirty="0">
                <a:solidFill>
                  <a:schemeClr val="bg1"/>
                </a:solidFill>
              </a:rPr>
              <a:t>Rick Bradford</a:t>
            </a:r>
          </a:p>
        </p:txBody>
      </p:sp>
      <p:pic>
        <p:nvPicPr>
          <p:cNvPr id="6" name="Picture 5" descr="A logo with lines and dots&#10;&#10;AI-generated content may be incorrect.">
            <a:extLst>
              <a:ext uri="{FF2B5EF4-FFF2-40B4-BE49-F238E27FC236}">
                <a16:creationId xmlns:a16="http://schemas.microsoft.com/office/drawing/2014/main" id="{80D55DB2-C788-0F85-A9DC-1ECF937C8264}"/>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2919489" y="1056782"/>
            <a:ext cx="6353021" cy="4673287"/>
          </a:xfrm>
          <a:prstGeom prst="rect">
            <a:avLst/>
          </a:prstGeom>
        </p:spPr>
      </p:pic>
      <p:pic>
        <p:nvPicPr>
          <p:cNvPr id="3" name="Picture 2">
            <a:extLst>
              <a:ext uri="{FF2B5EF4-FFF2-40B4-BE49-F238E27FC236}">
                <a16:creationId xmlns:a16="http://schemas.microsoft.com/office/drawing/2014/main" id="{378A6EBE-5A4F-6C91-1845-E7C2DCCC59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9485" y="960003"/>
            <a:ext cx="6353021" cy="4673287"/>
          </a:xfrm>
          <a:prstGeom prst="rect">
            <a:avLst/>
          </a:prstGeom>
        </p:spPr>
      </p:pic>
    </p:spTree>
    <p:extLst>
      <p:ext uri="{BB962C8B-B14F-4D97-AF65-F5344CB8AC3E}">
        <p14:creationId xmlns:p14="http://schemas.microsoft.com/office/powerpoint/2010/main" val="136810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C66E72F-B0C0-E614-5CEE-303A4C1892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79AE12-4E9E-1778-71E7-6047EF2280D0}"/>
              </a:ext>
            </a:extLst>
          </p:cNvPr>
          <p:cNvSpPr txBox="1"/>
          <p:nvPr/>
        </p:nvSpPr>
        <p:spPr>
          <a:xfrm>
            <a:off x="834770" y="166096"/>
            <a:ext cx="9999981" cy="584775"/>
          </a:xfrm>
          <a:prstGeom prst="rect">
            <a:avLst/>
          </a:prstGeom>
          <a:noFill/>
        </p:spPr>
        <p:txBody>
          <a:bodyPr wrap="none" rtlCol="0">
            <a:spAutoFit/>
          </a:bodyPr>
          <a:lstStyle/>
          <a:p>
            <a:pPr algn="ctr"/>
            <a:r>
              <a:rPr lang="en-US" sz="3200" b="1" dirty="0">
                <a:solidFill>
                  <a:schemeClr val="bg1"/>
                </a:solidFill>
              </a:rPr>
              <a:t>Synthetic Intelligence &amp; Human Integration Overview</a:t>
            </a:r>
          </a:p>
        </p:txBody>
      </p:sp>
      <p:sp>
        <p:nvSpPr>
          <p:cNvPr id="8" name="TextBox 7">
            <a:extLst>
              <a:ext uri="{FF2B5EF4-FFF2-40B4-BE49-F238E27FC236}">
                <a16:creationId xmlns:a16="http://schemas.microsoft.com/office/drawing/2014/main" id="{2D86DAD4-D13F-494C-1E84-D12EB0BCF500}"/>
              </a:ext>
            </a:extLst>
          </p:cNvPr>
          <p:cNvSpPr txBox="1"/>
          <p:nvPr/>
        </p:nvSpPr>
        <p:spPr>
          <a:xfrm>
            <a:off x="271511" y="1081763"/>
            <a:ext cx="11648975" cy="5755422"/>
          </a:xfrm>
          <a:prstGeom prst="rect">
            <a:avLst/>
          </a:prstGeom>
          <a:noFill/>
        </p:spPr>
        <p:txBody>
          <a:bodyPr wrap="square" rtlCol="0">
            <a:spAutoFit/>
          </a:bodyPr>
          <a:lstStyle/>
          <a:p>
            <a:pPr marL="457200" indent="-457200">
              <a:buFont typeface="Arial" panose="020B0604020202020204" pitchFamily="34" charset="0"/>
              <a:buChar char="•"/>
            </a:pPr>
            <a:r>
              <a:rPr lang="en-US" sz="2000" b="1" dirty="0">
                <a:solidFill>
                  <a:schemeClr val="bg1"/>
                </a:solidFill>
              </a:rPr>
              <a:t>Neural Network Architecture</a:t>
            </a:r>
          </a:p>
          <a:p>
            <a:endParaRPr lang="en-US" sz="800" dirty="0">
              <a:solidFill>
                <a:schemeClr val="bg1"/>
              </a:solidFill>
            </a:endParaRPr>
          </a:p>
          <a:p>
            <a:pPr marL="457200" indent="-457200">
              <a:buFont typeface="Arial" panose="020B0604020202020204" pitchFamily="34" charset="0"/>
              <a:buChar char="•"/>
            </a:pPr>
            <a:r>
              <a:rPr lang="en-US" sz="2000" dirty="0">
                <a:solidFill>
                  <a:schemeClr val="bg1"/>
                </a:solidFill>
              </a:rPr>
              <a:t>OpenAI GPT, Gemini, DeepSeek, Grok</a:t>
            </a:r>
          </a:p>
          <a:p>
            <a:pPr marL="457200" indent="-457200">
              <a:buFont typeface="Arial" panose="020B0604020202020204" pitchFamily="34" charset="0"/>
              <a:buChar char="•"/>
            </a:pPr>
            <a:endParaRPr lang="en-US" sz="800" dirty="0">
              <a:solidFill>
                <a:schemeClr val="bg1"/>
              </a:solidFill>
            </a:endParaRPr>
          </a:p>
          <a:p>
            <a:pPr marL="457200" indent="-457200">
              <a:buFont typeface="Arial" panose="020B0604020202020204" pitchFamily="34" charset="0"/>
              <a:buChar char="•"/>
            </a:pPr>
            <a:r>
              <a:rPr lang="en-US" sz="2000" dirty="0">
                <a:solidFill>
                  <a:schemeClr val="bg1"/>
                </a:solidFill>
              </a:rPr>
              <a:t>Anthropic Claude, Google Antigravity - (Vibe Coding)</a:t>
            </a:r>
          </a:p>
          <a:p>
            <a:pPr marL="457200" indent="-457200">
              <a:buFont typeface="Arial" panose="020B0604020202020204" pitchFamily="34" charset="0"/>
              <a:buChar char="•"/>
            </a:pPr>
            <a:endParaRPr lang="en-US" sz="800" dirty="0">
              <a:solidFill>
                <a:schemeClr val="bg1"/>
              </a:solidFill>
            </a:endParaRPr>
          </a:p>
          <a:p>
            <a:pPr marL="457200" indent="-457200">
              <a:buFont typeface="Arial" panose="020B0604020202020204" pitchFamily="34" charset="0"/>
              <a:buChar char="•"/>
            </a:pPr>
            <a:r>
              <a:rPr lang="en-US" sz="2000" dirty="0">
                <a:solidFill>
                  <a:schemeClr val="bg1"/>
                </a:solidFill>
              </a:rPr>
              <a:t>Image Creation (Midjourney, GPT, Gemini)</a:t>
            </a:r>
          </a:p>
          <a:p>
            <a:pPr marL="457200" indent="-457200">
              <a:buFont typeface="Arial" panose="020B0604020202020204" pitchFamily="34" charset="0"/>
              <a:buChar char="•"/>
            </a:pPr>
            <a:endParaRPr lang="en-US" sz="800" dirty="0">
              <a:solidFill>
                <a:schemeClr val="bg1"/>
              </a:solidFill>
            </a:endParaRPr>
          </a:p>
          <a:p>
            <a:pPr marL="457200" indent="-457200">
              <a:buFont typeface="Arial" panose="020B0604020202020204" pitchFamily="34" charset="0"/>
              <a:buChar char="•"/>
            </a:pPr>
            <a:r>
              <a:rPr lang="en-US" sz="2000" dirty="0">
                <a:solidFill>
                  <a:schemeClr val="bg1"/>
                </a:solidFill>
              </a:rPr>
              <a:t>Suno for Music, Ableton</a:t>
            </a:r>
          </a:p>
          <a:p>
            <a:pPr marL="457200" indent="-457200">
              <a:buFont typeface="Arial" panose="020B0604020202020204" pitchFamily="34" charset="0"/>
              <a:buChar char="•"/>
            </a:pPr>
            <a:endParaRPr lang="en-US" sz="800" dirty="0">
              <a:solidFill>
                <a:schemeClr val="bg1"/>
              </a:solidFill>
            </a:endParaRPr>
          </a:p>
          <a:p>
            <a:pPr marL="457200" indent="-457200">
              <a:buFont typeface="Arial" panose="020B0604020202020204" pitchFamily="34" charset="0"/>
              <a:buChar char="•"/>
            </a:pPr>
            <a:r>
              <a:rPr lang="en-US" sz="2000" dirty="0">
                <a:solidFill>
                  <a:schemeClr val="bg1"/>
                </a:solidFill>
              </a:rPr>
              <a:t>ElevenLabs.io | Text to Speech, Speech to Text, Speech Modification, etc.</a:t>
            </a:r>
          </a:p>
          <a:p>
            <a:pPr marL="457200" indent="-457200">
              <a:buFont typeface="Arial" panose="020B0604020202020204" pitchFamily="34" charset="0"/>
              <a:buChar char="•"/>
            </a:pPr>
            <a:endParaRPr lang="en-US" sz="800" dirty="0">
              <a:solidFill>
                <a:schemeClr val="bg1"/>
              </a:solidFill>
            </a:endParaRPr>
          </a:p>
          <a:p>
            <a:pPr marL="457200" indent="-457200">
              <a:buFont typeface="Arial" panose="020B0604020202020204" pitchFamily="34" charset="0"/>
              <a:buChar char="•"/>
            </a:pPr>
            <a:r>
              <a:rPr lang="en-US" sz="2000" dirty="0">
                <a:solidFill>
                  <a:schemeClr val="bg1"/>
                </a:solidFill>
              </a:rPr>
              <a:t>Kling, Luma Dream Machine, Sora</a:t>
            </a:r>
          </a:p>
          <a:p>
            <a:pPr marL="457200" indent="-457200">
              <a:buFont typeface="Arial" panose="020B0604020202020204" pitchFamily="34" charset="0"/>
              <a:buChar char="•"/>
            </a:pPr>
            <a:endParaRPr lang="en-US" sz="800" dirty="0">
              <a:solidFill>
                <a:schemeClr val="bg1"/>
              </a:solidFill>
            </a:endParaRPr>
          </a:p>
          <a:p>
            <a:pPr marL="457200" indent="-457200">
              <a:buFont typeface="Arial" panose="020B0604020202020204" pitchFamily="34" charset="0"/>
              <a:buChar char="•"/>
            </a:pPr>
            <a:r>
              <a:rPr lang="en-US" sz="2000" dirty="0">
                <a:solidFill>
                  <a:schemeClr val="bg1"/>
                </a:solidFill>
              </a:rPr>
              <a:t>ClipChamp Editing</a:t>
            </a:r>
          </a:p>
          <a:p>
            <a:pPr marL="457200" indent="-457200">
              <a:buFont typeface="Arial" panose="020B0604020202020204" pitchFamily="34" charset="0"/>
              <a:buChar char="•"/>
            </a:pPr>
            <a:endParaRPr lang="en-US" sz="800" dirty="0">
              <a:solidFill>
                <a:schemeClr val="bg1"/>
              </a:solidFill>
            </a:endParaRPr>
          </a:p>
          <a:p>
            <a:pPr marL="457200" indent="-457200">
              <a:buFont typeface="Arial" panose="020B0604020202020204" pitchFamily="34" charset="0"/>
              <a:buChar char="•"/>
            </a:pPr>
            <a:r>
              <a:rPr lang="en-US" sz="2000" dirty="0">
                <a:solidFill>
                  <a:schemeClr val="bg1"/>
                </a:solidFill>
              </a:rPr>
              <a:t>Zencastr and DistroKid Publishing</a:t>
            </a:r>
          </a:p>
          <a:p>
            <a:pPr marL="457200" indent="-457200">
              <a:buFont typeface="Arial" panose="020B0604020202020204" pitchFamily="34" charset="0"/>
              <a:buChar char="•"/>
            </a:pPr>
            <a:endParaRPr lang="en-US" sz="800" dirty="0">
              <a:solidFill>
                <a:schemeClr val="bg1"/>
              </a:solidFill>
            </a:endParaRPr>
          </a:p>
          <a:p>
            <a:pPr marL="457200" indent="-457200">
              <a:buFont typeface="Arial" panose="020B0604020202020204" pitchFamily="34" charset="0"/>
              <a:buChar char="•"/>
            </a:pPr>
            <a:r>
              <a:rPr lang="en-US" sz="2000" dirty="0">
                <a:solidFill>
                  <a:schemeClr val="bg1"/>
                </a:solidFill>
              </a:rPr>
              <a:t>Building Your Own AI Models (Llama, Claude, Mistral &amp; Mixtral, etc.)</a:t>
            </a:r>
          </a:p>
          <a:p>
            <a:pPr marL="457200" indent="-457200">
              <a:buFont typeface="Arial" panose="020B0604020202020204" pitchFamily="34" charset="0"/>
              <a:buChar char="•"/>
            </a:pPr>
            <a:endParaRPr lang="en-US" sz="800" dirty="0">
              <a:solidFill>
                <a:schemeClr val="bg1"/>
              </a:solidFill>
            </a:endParaRPr>
          </a:p>
          <a:p>
            <a:pPr marL="457200" indent="-457200">
              <a:buFont typeface="Arial" panose="020B0604020202020204" pitchFamily="34" charset="0"/>
              <a:buChar char="•"/>
            </a:pPr>
            <a:r>
              <a:rPr lang="en-US" sz="2000" dirty="0">
                <a:solidFill>
                  <a:schemeClr val="bg1"/>
                </a:solidFill>
              </a:rPr>
              <a:t>Ethics, Lawful, and NDA Damage</a:t>
            </a:r>
          </a:p>
          <a:p>
            <a:pPr marL="457200" indent="-457200">
              <a:buFont typeface="Arial" panose="020B0604020202020204" pitchFamily="34" charset="0"/>
              <a:buChar char="•"/>
            </a:pPr>
            <a:endParaRPr lang="en-US" sz="800" dirty="0">
              <a:solidFill>
                <a:schemeClr val="bg1"/>
              </a:solidFill>
            </a:endParaRPr>
          </a:p>
          <a:p>
            <a:pPr marL="457200" indent="-457200">
              <a:buFont typeface="Arial" panose="020B0604020202020204" pitchFamily="34" charset="0"/>
              <a:buChar char="•"/>
            </a:pPr>
            <a:r>
              <a:rPr lang="en-US" sz="2000" dirty="0">
                <a:solidFill>
                  <a:schemeClr val="bg1"/>
                </a:solidFill>
              </a:rPr>
              <a:t>Cybernetics, Biohacking Transhumanist Singularity (Moore’s Law, Ray Kurzweil</a:t>
            </a:r>
          </a:p>
          <a:p>
            <a:pPr marL="457200" indent="-457200">
              <a:buFont typeface="Arial" panose="020B0604020202020204" pitchFamily="34" charset="0"/>
              <a:buChar char="•"/>
            </a:pPr>
            <a:endParaRPr lang="en-US" sz="800" dirty="0">
              <a:solidFill>
                <a:schemeClr val="bg1"/>
              </a:solidFill>
            </a:endParaRPr>
          </a:p>
          <a:p>
            <a:pPr marL="457200" indent="-457200">
              <a:buFont typeface="Arial" panose="020B0604020202020204" pitchFamily="34" charset="0"/>
              <a:buChar char="•"/>
            </a:pPr>
            <a:r>
              <a:rPr lang="en-US" sz="2000" dirty="0">
                <a:solidFill>
                  <a:schemeClr val="bg1"/>
                </a:solidFill>
              </a:rPr>
              <a:t>Sociologically Impacts, Analytical &amp; Philosophical, Mormon Transhumanist Association (MTA)</a:t>
            </a:r>
          </a:p>
        </p:txBody>
      </p:sp>
      <p:cxnSp>
        <p:nvCxnSpPr>
          <p:cNvPr id="3" name="Straight Connector 2">
            <a:extLst>
              <a:ext uri="{FF2B5EF4-FFF2-40B4-BE49-F238E27FC236}">
                <a16:creationId xmlns:a16="http://schemas.microsoft.com/office/drawing/2014/main" id="{DD9469DA-4106-A266-812E-E27F95CF6C34}"/>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B054D778-A6FB-5C77-9EF7-7F5DAFD491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524" y="144775"/>
            <a:ext cx="922325" cy="678463"/>
          </a:xfrm>
          <a:prstGeom prst="rect">
            <a:avLst/>
          </a:prstGeom>
        </p:spPr>
      </p:pic>
    </p:spTree>
    <p:extLst>
      <p:ext uri="{BB962C8B-B14F-4D97-AF65-F5344CB8AC3E}">
        <p14:creationId xmlns:p14="http://schemas.microsoft.com/office/powerpoint/2010/main" val="4196546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BC0D4B6-4C54-08AC-3859-070A9C717BBF}"/>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F0644E11-D293-27F9-2678-82E9E71193AA}"/>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42ACEABF-309F-B123-C588-D6A74D6BDF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9489" y="1423952"/>
            <a:ext cx="6353021" cy="4673287"/>
          </a:xfrm>
          <a:prstGeom prst="rect">
            <a:avLst/>
          </a:prstGeom>
        </p:spPr>
      </p:pic>
    </p:spTree>
    <p:extLst>
      <p:ext uri="{BB962C8B-B14F-4D97-AF65-F5344CB8AC3E}">
        <p14:creationId xmlns:p14="http://schemas.microsoft.com/office/powerpoint/2010/main" val="4126354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C32D638-2BF7-74B0-63F2-341414ABA78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9545A9-82D8-976E-E57E-9B2D70663172}"/>
              </a:ext>
            </a:extLst>
          </p:cNvPr>
          <p:cNvSpPr txBox="1"/>
          <p:nvPr/>
        </p:nvSpPr>
        <p:spPr>
          <a:xfrm>
            <a:off x="2336450" y="90440"/>
            <a:ext cx="7519111" cy="769441"/>
          </a:xfrm>
          <a:prstGeom prst="rect">
            <a:avLst/>
          </a:prstGeom>
          <a:noFill/>
        </p:spPr>
        <p:txBody>
          <a:bodyPr wrap="none" rtlCol="0">
            <a:spAutoFit/>
          </a:bodyPr>
          <a:lstStyle/>
          <a:p>
            <a:pPr algn="ctr"/>
            <a:r>
              <a:rPr lang="en-US" sz="4400" b="1" dirty="0">
                <a:solidFill>
                  <a:schemeClr val="bg1"/>
                </a:solidFill>
              </a:rPr>
              <a:t>Neural Network Architecture</a:t>
            </a:r>
          </a:p>
        </p:txBody>
      </p:sp>
      <p:sp>
        <p:nvSpPr>
          <p:cNvPr id="4" name="TextBox 3">
            <a:extLst>
              <a:ext uri="{FF2B5EF4-FFF2-40B4-BE49-F238E27FC236}">
                <a16:creationId xmlns:a16="http://schemas.microsoft.com/office/drawing/2014/main" id="{6EF4FFE4-4E2E-B348-E1CB-D0EC9A8FD738}"/>
              </a:ext>
            </a:extLst>
          </p:cNvPr>
          <p:cNvSpPr txBox="1"/>
          <p:nvPr/>
        </p:nvSpPr>
        <p:spPr>
          <a:xfrm>
            <a:off x="336062" y="1081763"/>
            <a:ext cx="8160238" cy="646331"/>
          </a:xfrm>
          <a:prstGeom prst="rect">
            <a:avLst/>
          </a:prstGeom>
          <a:noFill/>
        </p:spPr>
        <p:txBody>
          <a:bodyPr wrap="square" rtlCol="0">
            <a:spAutoFit/>
          </a:bodyPr>
          <a:lstStyle/>
          <a:p>
            <a:r>
              <a:rPr lang="en-US" sz="3600" b="1" dirty="0">
                <a:solidFill>
                  <a:schemeClr val="bg1"/>
                </a:solidFill>
              </a:rPr>
              <a:t>The “Neural Network Fractal Design”</a:t>
            </a:r>
          </a:p>
        </p:txBody>
      </p:sp>
      <p:sp>
        <p:nvSpPr>
          <p:cNvPr id="8" name="TextBox 7">
            <a:extLst>
              <a:ext uri="{FF2B5EF4-FFF2-40B4-BE49-F238E27FC236}">
                <a16:creationId xmlns:a16="http://schemas.microsoft.com/office/drawing/2014/main" id="{7D5B5972-BD38-4068-691D-FC5C6987081F}"/>
              </a:ext>
            </a:extLst>
          </p:cNvPr>
          <p:cNvSpPr txBox="1"/>
          <p:nvPr/>
        </p:nvSpPr>
        <p:spPr>
          <a:xfrm>
            <a:off x="599888" y="2142546"/>
            <a:ext cx="10792012" cy="584775"/>
          </a:xfrm>
          <a:prstGeom prst="rect">
            <a:avLst/>
          </a:prstGeom>
          <a:noFill/>
        </p:spPr>
        <p:txBody>
          <a:bodyPr wrap="square" rtlCol="0">
            <a:spAutoFit/>
          </a:bodyPr>
          <a:lstStyle/>
          <a:p>
            <a:pPr marL="457200" indent="-457200">
              <a:buFont typeface="Arial" panose="020B0604020202020204" pitchFamily="34" charset="0"/>
              <a:buChar char="•"/>
            </a:pPr>
            <a:r>
              <a:rPr lang="en-US" sz="3200" dirty="0">
                <a:solidFill>
                  <a:schemeClr val="bg1"/>
                </a:solidFill>
                <a:sym typeface="Wingdings" panose="05000000000000000000" pitchFamily="2" charset="2"/>
              </a:rPr>
              <a:t>&lt;INSERT IMAGE, ONE “POINT”&gt;</a:t>
            </a:r>
          </a:p>
        </p:txBody>
      </p:sp>
      <p:cxnSp>
        <p:nvCxnSpPr>
          <p:cNvPr id="3" name="Straight Connector 2">
            <a:extLst>
              <a:ext uri="{FF2B5EF4-FFF2-40B4-BE49-F238E27FC236}">
                <a16:creationId xmlns:a16="http://schemas.microsoft.com/office/drawing/2014/main" id="{B2423E0F-54DC-8EB7-956C-043039C2FB64}"/>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554649AB-8CEC-5070-25CE-A48FF01766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524" y="144775"/>
            <a:ext cx="922325" cy="678463"/>
          </a:xfrm>
          <a:prstGeom prst="rect">
            <a:avLst/>
          </a:prstGeom>
        </p:spPr>
      </p:pic>
    </p:spTree>
    <p:extLst>
      <p:ext uri="{BB962C8B-B14F-4D97-AF65-F5344CB8AC3E}">
        <p14:creationId xmlns:p14="http://schemas.microsoft.com/office/powerpoint/2010/main" val="1574563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7A79131-DEC6-9F71-4632-0729A08740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52A7F5F-7DB2-9614-105C-91984552AB9D}"/>
              </a:ext>
            </a:extLst>
          </p:cNvPr>
          <p:cNvSpPr txBox="1"/>
          <p:nvPr/>
        </p:nvSpPr>
        <p:spPr>
          <a:xfrm>
            <a:off x="2336450" y="90440"/>
            <a:ext cx="7519111" cy="769441"/>
          </a:xfrm>
          <a:prstGeom prst="rect">
            <a:avLst/>
          </a:prstGeom>
          <a:noFill/>
        </p:spPr>
        <p:txBody>
          <a:bodyPr wrap="none" rtlCol="0">
            <a:spAutoFit/>
          </a:bodyPr>
          <a:lstStyle/>
          <a:p>
            <a:pPr algn="ctr"/>
            <a:r>
              <a:rPr lang="en-US" sz="4400" b="1" dirty="0">
                <a:solidFill>
                  <a:schemeClr val="bg1"/>
                </a:solidFill>
              </a:rPr>
              <a:t>Neural Network Architecture</a:t>
            </a:r>
          </a:p>
        </p:txBody>
      </p:sp>
      <p:sp>
        <p:nvSpPr>
          <p:cNvPr id="8" name="TextBox 7">
            <a:extLst>
              <a:ext uri="{FF2B5EF4-FFF2-40B4-BE49-F238E27FC236}">
                <a16:creationId xmlns:a16="http://schemas.microsoft.com/office/drawing/2014/main" id="{1DA6B6EE-72CE-1B10-847D-3A00D13C56B8}"/>
              </a:ext>
            </a:extLst>
          </p:cNvPr>
          <p:cNvSpPr txBox="1"/>
          <p:nvPr/>
        </p:nvSpPr>
        <p:spPr>
          <a:xfrm>
            <a:off x="599888" y="2142546"/>
            <a:ext cx="10792012"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solidFill>
                  <a:schemeClr val="bg1"/>
                </a:solidFill>
                <a:sym typeface="Wingdings" panose="05000000000000000000" pitchFamily="2" charset="2"/>
              </a:rPr>
              <a:t>&lt;INSERT IMAGE THAT EXPANDS INTO ONE HALF OF THE DATASET&gt;</a:t>
            </a:r>
          </a:p>
        </p:txBody>
      </p:sp>
      <p:cxnSp>
        <p:nvCxnSpPr>
          <p:cNvPr id="3" name="Straight Connector 2">
            <a:extLst>
              <a:ext uri="{FF2B5EF4-FFF2-40B4-BE49-F238E27FC236}">
                <a16:creationId xmlns:a16="http://schemas.microsoft.com/office/drawing/2014/main" id="{48DBB0CA-114E-BF5D-D096-11A03D25F75B}"/>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E074F440-DCAD-B80F-EF3F-843FF9963A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524" y="144775"/>
            <a:ext cx="922325" cy="678463"/>
          </a:xfrm>
          <a:prstGeom prst="rect">
            <a:avLst/>
          </a:prstGeom>
        </p:spPr>
      </p:pic>
      <p:sp>
        <p:nvSpPr>
          <p:cNvPr id="7" name="TextBox 6">
            <a:extLst>
              <a:ext uri="{FF2B5EF4-FFF2-40B4-BE49-F238E27FC236}">
                <a16:creationId xmlns:a16="http://schemas.microsoft.com/office/drawing/2014/main" id="{1938F1D8-7DC3-FF2E-000F-8B200D9DBD18}"/>
              </a:ext>
            </a:extLst>
          </p:cNvPr>
          <p:cNvSpPr txBox="1"/>
          <p:nvPr/>
        </p:nvSpPr>
        <p:spPr>
          <a:xfrm>
            <a:off x="336062" y="1081763"/>
            <a:ext cx="8160238" cy="646331"/>
          </a:xfrm>
          <a:prstGeom prst="rect">
            <a:avLst/>
          </a:prstGeom>
          <a:noFill/>
        </p:spPr>
        <p:txBody>
          <a:bodyPr wrap="square" rtlCol="0">
            <a:spAutoFit/>
          </a:bodyPr>
          <a:lstStyle/>
          <a:p>
            <a:r>
              <a:rPr lang="en-US" sz="3600" b="1" dirty="0">
                <a:solidFill>
                  <a:schemeClr val="bg1"/>
                </a:solidFill>
              </a:rPr>
              <a:t>The “Neural Network Fractal Design”</a:t>
            </a:r>
          </a:p>
        </p:txBody>
      </p:sp>
    </p:spTree>
    <p:extLst>
      <p:ext uri="{BB962C8B-B14F-4D97-AF65-F5344CB8AC3E}">
        <p14:creationId xmlns:p14="http://schemas.microsoft.com/office/powerpoint/2010/main" val="4240091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BB9617E-7ABE-2A1A-2465-04181698683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35AD26-AEE2-5BF5-209C-29C3C41C9592}"/>
              </a:ext>
            </a:extLst>
          </p:cNvPr>
          <p:cNvSpPr txBox="1"/>
          <p:nvPr/>
        </p:nvSpPr>
        <p:spPr>
          <a:xfrm>
            <a:off x="2336450" y="90440"/>
            <a:ext cx="7519111" cy="769441"/>
          </a:xfrm>
          <a:prstGeom prst="rect">
            <a:avLst/>
          </a:prstGeom>
          <a:noFill/>
        </p:spPr>
        <p:txBody>
          <a:bodyPr wrap="none" rtlCol="0">
            <a:spAutoFit/>
          </a:bodyPr>
          <a:lstStyle/>
          <a:p>
            <a:pPr algn="ctr"/>
            <a:r>
              <a:rPr lang="en-US" sz="4400" b="1" dirty="0">
                <a:solidFill>
                  <a:schemeClr val="bg1"/>
                </a:solidFill>
              </a:rPr>
              <a:t>Neural Network Architecture</a:t>
            </a:r>
          </a:p>
        </p:txBody>
      </p:sp>
      <p:sp>
        <p:nvSpPr>
          <p:cNvPr id="8" name="TextBox 7">
            <a:extLst>
              <a:ext uri="{FF2B5EF4-FFF2-40B4-BE49-F238E27FC236}">
                <a16:creationId xmlns:a16="http://schemas.microsoft.com/office/drawing/2014/main" id="{EC6DC6FC-ACD4-7328-9F8B-AA30EDAA3D4C}"/>
              </a:ext>
            </a:extLst>
          </p:cNvPr>
          <p:cNvSpPr txBox="1"/>
          <p:nvPr/>
        </p:nvSpPr>
        <p:spPr>
          <a:xfrm>
            <a:off x="599888" y="2142546"/>
            <a:ext cx="10792012" cy="1569660"/>
          </a:xfrm>
          <a:prstGeom prst="rect">
            <a:avLst/>
          </a:prstGeom>
          <a:noFill/>
        </p:spPr>
        <p:txBody>
          <a:bodyPr wrap="square" rtlCol="0">
            <a:spAutoFit/>
          </a:bodyPr>
          <a:lstStyle/>
          <a:p>
            <a:pPr marL="457200" indent="-457200">
              <a:buFont typeface="Arial" panose="020B0604020202020204" pitchFamily="34" charset="0"/>
              <a:buChar char="•"/>
            </a:pPr>
            <a:r>
              <a:rPr lang="en-US" sz="3200" dirty="0">
                <a:solidFill>
                  <a:schemeClr val="bg1"/>
                </a:solidFill>
                <a:sym typeface="Wingdings" panose="05000000000000000000" pitchFamily="2" charset="2"/>
              </a:rPr>
              <a:t>&lt;INSERT IMAGE THAT EXPANDS INTO THE FULL DATASET, A POINT THAT EXPANDS AND CONTRACT TO WHAT’S DESIRED&gt;</a:t>
            </a:r>
          </a:p>
        </p:txBody>
      </p:sp>
      <p:cxnSp>
        <p:nvCxnSpPr>
          <p:cNvPr id="3" name="Straight Connector 2">
            <a:extLst>
              <a:ext uri="{FF2B5EF4-FFF2-40B4-BE49-F238E27FC236}">
                <a16:creationId xmlns:a16="http://schemas.microsoft.com/office/drawing/2014/main" id="{7EDF9FF2-D7EF-34B4-8D66-7C93ED908A7C}"/>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53AAF563-4FF0-A7E7-1D42-3AADA0A2D2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524" y="144775"/>
            <a:ext cx="922325" cy="678463"/>
          </a:xfrm>
          <a:prstGeom prst="rect">
            <a:avLst/>
          </a:prstGeom>
        </p:spPr>
      </p:pic>
      <p:sp>
        <p:nvSpPr>
          <p:cNvPr id="6" name="TextBox 5">
            <a:extLst>
              <a:ext uri="{FF2B5EF4-FFF2-40B4-BE49-F238E27FC236}">
                <a16:creationId xmlns:a16="http://schemas.microsoft.com/office/drawing/2014/main" id="{683827C1-EDE6-4610-0743-56252F47599A}"/>
              </a:ext>
            </a:extLst>
          </p:cNvPr>
          <p:cNvSpPr txBox="1"/>
          <p:nvPr/>
        </p:nvSpPr>
        <p:spPr>
          <a:xfrm>
            <a:off x="336062" y="1081763"/>
            <a:ext cx="8160238" cy="646331"/>
          </a:xfrm>
          <a:prstGeom prst="rect">
            <a:avLst/>
          </a:prstGeom>
          <a:noFill/>
        </p:spPr>
        <p:txBody>
          <a:bodyPr wrap="square" rtlCol="0">
            <a:spAutoFit/>
          </a:bodyPr>
          <a:lstStyle/>
          <a:p>
            <a:r>
              <a:rPr lang="en-US" sz="3600" b="1" dirty="0">
                <a:solidFill>
                  <a:schemeClr val="bg1"/>
                </a:solidFill>
              </a:rPr>
              <a:t>The “Neural Network Fractal Design”</a:t>
            </a:r>
          </a:p>
        </p:txBody>
      </p:sp>
    </p:spTree>
    <p:extLst>
      <p:ext uri="{BB962C8B-B14F-4D97-AF65-F5344CB8AC3E}">
        <p14:creationId xmlns:p14="http://schemas.microsoft.com/office/powerpoint/2010/main" val="754239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AA9D6DB-3F35-27D1-3BE4-D011AE93F7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0F3B33-B012-FABF-0BE9-36BC1BB622BA}"/>
              </a:ext>
            </a:extLst>
          </p:cNvPr>
          <p:cNvSpPr txBox="1"/>
          <p:nvPr/>
        </p:nvSpPr>
        <p:spPr>
          <a:xfrm>
            <a:off x="2336450" y="90440"/>
            <a:ext cx="7519111" cy="769441"/>
          </a:xfrm>
          <a:prstGeom prst="rect">
            <a:avLst/>
          </a:prstGeom>
          <a:noFill/>
        </p:spPr>
        <p:txBody>
          <a:bodyPr wrap="none" rtlCol="0">
            <a:spAutoFit/>
          </a:bodyPr>
          <a:lstStyle/>
          <a:p>
            <a:pPr algn="ctr"/>
            <a:r>
              <a:rPr lang="en-US" sz="4400" b="1" dirty="0">
                <a:solidFill>
                  <a:schemeClr val="bg1"/>
                </a:solidFill>
              </a:rPr>
              <a:t>Neural Network Architecture</a:t>
            </a:r>
          </a:p>
        </p:txBody>
      </p:sp>
      <p:sp>
        <p:nvSpPr>
          <p:cNvPr id="4" name="TextBox 3">
            <a:extLst>
              <a:ext uri="{FF2B5EF4-FFF2-40B4-BE49-F238E27FC236}">
                <a16:creationId xmlns:a16="http://schemas.microsoft.com/office/drawing/2014/main" id="{5EF5D3F9-C7C1-AA86-BC5C-15C0FB0EEA43}"/>
              </a:ext>
            </a:extLst>
          </p:cNvPr>
          <p:cNvSpPr txBox="1"/>
          <p:nvPr/>
        </p:nvSpPr>
        <p:spPr>
          <a:xfrm>
            <a:off x="336062" y="1081763"/>
            <a:ext cx="11294150" cy="646331"/>
          </a:xfrm>
          <a:prstGeom prst="rect">
            <a:avLst/>
          </a:prstGeom>
          <a:noFill/>
        </p:spPr>
        <p:txBody>
          <a:bodyPr wrap="square" rtlCol="0">
            <a:spAutoFit/>
          </a:bodyPr>
          <a:lstStyle/>
          <a:p>
            <a:r>
              <a:rPr lang="en-US" sz="3600" b="1" dirty="0">
                <a:solidFill>
                  <a:schemeClr val="bg1"/>
                </a:solidFill>
              </a:rPr>
              <a:t>Further Usage Of The Neural Network Fractal Design</a:t>
            </a:r>
          </a:p>
        </p:txBody>
      </p:sp>
      <p:sp>
        <p:nvSpPr>
          <p:cNvPr id="8" name="TextBox 7">
            <a:extLst>
              <a:ext uri="{FF2B5EF4-FFF2-40B4-BE49-F238E27FC236}">
                <a16:creationId xmlns:a16="http://schemas.microsoft.com/office/drawing/2014/main" id="{6C1839EE-16A5-56C7-54A7-DB11AC874F1B}"/>
              </a:ext>
            </a:extLst>
          </p:cNvPr>
          <p:cNvSpPr txBox="1"/>
          <p:nvPr/>
        </p:nvSpPr>
        <p:spPr>
          <a:xfrm>
            <a:off x="587131" y="1857356"/>
            <a:ext cx="10792012" cy="4524315"/>
          </a:xfrm>
          <a:prstGeom prst="rect">
            <a:avLst/>
          </a:prstGeom>
          <a:noFill/>
        </p:spPr>
        <p:txBody>
          <a:bodyPr wrap="square" rtlCol="0">
            <a:spAutoFit/>
          </a:bodyPr>
          <a:lstStyle/>
          <a:p>
            <a:pPr marL="457200" indent="-457200">
              <a:buFont typeface="Arial" panose="020B0604020202020204" pitchFamily="34" charset="0"/>
              <a:buChar char="•"/>
            </a:pPr>
            <a:r>
              <a:rPr lang="en-US" sz="3200" dirty="0">
                <a:solidFill>
                  <a:schemeClr val="bg1"/>
                </a:solidFill>
                <a:sym typeface="Wingdings" panose="05000000000000000000" pitchFamily="2" charset="2"/>
              </a:rPr>
              <a:t>Large Language Models are similar for text. These datasets are used to create textual responses with language resources scraped from textbooks, Wikipedia, white papers, etc.</a:t>
            </a:r>
          </a:p>
          <a:p>
            <a:pPr marL="457200" indent="-457200">
              <a:buFont typeface="Arial" panose="020B0604020202020204" pitchFamily="34" charset="0"/>
              <a:buChar char="•"/>
            </a:pPr>
            <a:endParaRPr lang="en-US" sz="3200" dirty="0">
              <a:solidFill>
                <a:schemeClr val="bg1"/>
              </a:solidFill>
              <a:sym typeface="Wingdings" panose="05000000000000000000" pitchFamily="2" charset="2"/>
            </a:endParaRPr>
          </a:p>
          <a:p>
            <a:pPr marL="457200" indent="-457200">
              <a:buFont typeface="Arial" panose="020B0604020202020204" pitchFamily="34" charset="0"/>
              <a:buChar char="•"/>
            </a:pPr>
            <a:r>
              <a:rPr lang="en-US" sz="3200" dirty="0">
                <a:solidFill>
                  <a:schemeClr val="bg1"/>
                </a:solidFill>
                <a:sym typeface="Wingdings" panose="05000000000000000000" pitchFamily="2" charset="2"/>
              </a:rPr>
              <a:t>The first note, the first voice, like the images are in Convolutional Neural Networks.</a:t>
            </a:r>
            <a:endParaRPr lang="en-US" sz="3200" dirty="0">
              <a:solidFill>
                <a:schemeClr val="bg1"/>
              </a:solidFill>
            </a:endParaRPr>
          </a:p>
          <a:p>
            <a:pPr marL="457200" indent="-457200">
              <a:buFont typeface="Arial" panose="020B0604020202020204" pitchFamily="34" charset="0"/>
              <a:buChar char="•"/>
            </a:pPr>
            <a:endParaRPr lang="en-US" sz="3200" dirty="0">
              <a:solidFill>
                <a:schemeClr val="bg1"/>
              </a:solidFill>
            </a:endParaRPr>
          </a:p>
          <a:p>
            <a:pPr marL="457200" indent="-457200">
              <a:buFont typeface="Arial" panose="020B0604020202020204" pitchFamily="34" charset="0"/>
              <a:buChar char="•"/>
            </a:pPr>
            <a:r>
              <a:rPr lang="en-US" sz="3200" dirty="0">
                <a:solidFill>
                  <a:schemeClr val="bg1"/>
                </a:solidFill>
              </a:rPr>
              <a:t>The first videos are also Convolutional Neural Networks.</a:t>
            </a:r>
          </a:p>
        </p:txBody>
      </p:sp>
      <p:cxnSp>
        <p:nvCxnSpPr>
          <p:cNvPr id="3" name="Straight Connector 2">
            <a:extLst>
              <a:ext uri="{FF2B5EF4-FFF2-40B4-BE49-F238E27FC236}">
                <a16:creationId xmlns:a16="http://schemas.microsoft.com/office/drawing/2014/main" id="{4A3E55A8-8FDD-92AE-1E2D-959E52199BFD}"/>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CC189B1B-BBA1-E526-C57A-6A07FFD6A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524" y="144775"/>
            <a:ext cx="922325" cy="678463"/>
          </a:xfrm>
          <a:prstGeom prst="rect">
            <a:avLst/>
          </a:prstGeom>
        </p:spPr>
      </p:pic>
    </p:spTree>
    <p:extLst>
      <p:ext uri="{BB962C8B-B14F-4D97-AF65-F5344CB8AC3E}">
        <p14:creationId xmlns:p14="http://schemas.microsoft.com/office/powerpoint/2010/main" val="2079872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C113D64-3E85-D612-52CD-09C79A7313FF}"/>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151F5E4-2438-B4AE-4785-DA5E44818020}"/>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2CA0DD6C-BCF8-B549-A16A-D287D2721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9489" y="1423952"/>
            <a:ext cx="6353021" cy="4673287"/>
          </a:xfrm>
          <a:prstGeom prst="rect">
            <a:avLst/>
          </a:prstGeom>
        </p:spPr>
      </p:pic>
    </p:spTree>
    <p:extLst>
      <p:ext uri="{BB962C8B-B14F-4D97-AF65-F5344CB8AC3E}">
        <p14:creationId xmlns:p14="http://schemas.microsoft.com/office/powerpoint/2010/main" val="1500196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0A1235A-785A-D5DE-75E0-FA77E08E739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F8A326D-E9B8-3004-96AA-69A4BFD2B4B6}"/>
              </a:ext>
            </a:extLst>
          </p:cNvPr>
          <p:cNvSpPr txBox="1"/>
          <p:nvPr/>
        </p:nvSpPr>
        <p:spPr>
          <a:xfrm>
            <a:off x="2267099" y="90440"/>
            <a:ext cx="7657802" cy="769441"/>
          </a:xfrm>
          <a:prstGeom prst="rect">
            <a:avLst/>
          </a:prstGeom>
          <a:noFill/>
        </p:spPr>
        <p:txBody>
          <a:bodyPr wrap="none" rtlCol="0">
            <a:spAutoFit/>
          </a:bodyPr>
          <a:lstStyle/>
          <a:p>
            <a:pPr algn="ctr"/>
            <a:r>
              <a:rPr lang="en-US" sz="4400" b="1" dirty="0">
                <a:solidFill>
                  <a:schemeClr val="bg1"/>
                </a:solidFill>
              </a:rPr>
              <a:t>Large Language Models (LLM)</a:t>
            </a:r>
          </a:p>
        </p:txBody>
      </p:sp>
      <p:sp>
        <p:nvSpPr>
          <p:cNvPr id="4" name="TextBox 3">
            <a:extLst>
              <a:ext uri="{FF2B5EF4-FFF2-40B4-BE49-F238E27FC236}">
                <a16:creationId xmlns:a16="http://schemas.microsoft.com/office/drawing/2014/main" id="{3C32BA63-45F2-A1CB-A86D-F729E7B5935B}"/>
              </a:ext>
            </a:extLst>
          </p:cNvPr>
          <p:cNvSpPr txBox="1"/>
          <p:nvPr/>
        </p:nvSpPr>
        <p:spPr>
          <a:xfrm>
            <a:off x="438359" y="1218946"/>
            <a:ext cx="1034257" cy="646331"/>
          </a:xfrm>
          <a:prstGeom prst="rect">
            <a:avLst/>
          </a:prstGeom>
          <a:noFill/>
        </p:spPr>
        <p:txBody>
          <a:bodyPr wrap="none" rtlCol="0">
            <a:spAutoFit/>
          </a:bodyPr>
          <a:lstStyle/>
          <a:p>
            <a:pPr algn="ctr"/>
            <a:r>
              <a:rPr lang="en-US" sz="3600" b="1" dirty="0">
                <a:solidFill>
                  <a:schemeClr val="bg1"/>
                </a:solidFill>
              </a:rPr>
              <a:t>LLM</a:t>
            </a:r>
          </a:p>
        </p:txBody>
      </p:sp>
      <p:sp>
        <p:nvSpPr>
          <p:cNvPr id="8" name="TextBox 7">
            <a:extLst>
              <a:ext uri="{FF2B5EF4-FFF2-40B4-BE49-F238E27FC236}">
                <a16:creationId xmlns:a16="http://schemas.microsoft.com/office/drawing/2014/main" id="{FC42632E-CCE5-66CD-8B0F-24A7854FDDE1}"/>
              </a:ext>
            </a:extLst>
          </p:cNvPr>
          <p:cNvSpPr txBox="1"/>
          <p:nvPr/>
        </p:nvSpPr>
        <p:spPr>
          <a:xfrm>
            <a:off x="599888" y="2142546"/>
            <a:ext cx="10792012" cy="3539430"/>
          </a:xfrm>
          <a:prstGeom prst="rect">
            <a:avLst/>
          </a:prstGeom>
          <a:noFill/>
        </p:spPr>
        <p:txBody>
          <a:bodyPr wrap="square" rtlCol="0">
            <a:spAutoFit/>
          </a:bodyPr>
          <a:lstStyle/>
          <a:p>
            <a:pPr marL="457200" indent="-457200">
              <a:buFont typeface="Arial" panose="020B0604020202020204" pitchFamily="34" charset="0"/>
              <a:buChar char="•"/>
            </a:pPr>
            <a:r>
              <a:rPr lang="en-US" sz="3200" dirty="0">
                <a:solidFill>
                  <a:schemeClr val="bg1"/>
                </a:solidFill>
              </a:rPr>
              <a:t>An LLM is an advanced version of predicted text. Instead of guessing next words it can write out full sentences, answer questions and explain topics and documents, write code, and honestly have conversations.</a:t>
            </a:r>
          </a:p>
          <a:p>
            <a:pPr marL="457200" indent="-457200">
              <a:buFont typeface="Arial" panose="020B0604020202020204" pitchFamily="34" charset="0"/>
              <a:buChar char="•"/>
            </a:pPr>
            <a:endParaRPr lang="en-US" sz="3200" dirty="0">
              <a:solidFill>
                <a:schemeClr val="bg1"/>
              </a:solidFill>
            </a:endParaRPr>
          </a:p>
          <a:p>
            <a:pPr marL="457200" indent="-457200">
              <a:buFont typeface="Arial" panose="020B0604020202020204" pitchFamily="34" charset="0"/>
              <a:buChar char="•"/>
            </a:pPr>
            <a:r>
              <a:rPr lang="en-US" sz="3200" dirty="0">
                <a:solidFill>
                  <a:schemeClr val="bg1"/>
                </a:solidFill>
              </a:rPr>
              <a:t>LLM’s are trained on massive of amounts of text from books, websites and multiple other sources.</a:t>
            </a:r>
          </a:p>
        </p:txBody>
      </p:sp>
      <p:cxnSp>
        <p:nvCxnSpPr>
          <p:cNvPr id="3" name="Straight Connector 2">
            <a:extLst>
              <a:ext uri="{FF2B5EF4-FFF2-40B4-BE49-F238E27FC236}">
                <a16:creationId xmlns:a16="http://schemas.microsoft.com/office/drawing/2014/main" id="{CC601DC6-62AE-5F84-5B7A-1248A1B1FDB3}"/>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78D3B372-7367-E13F-9E39-39C32551C2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524" y="144775"/>
            <a:ext cx="922325" cy="678463"/>
          </a:xfrm>
          <a:prstGeom prst="rect">
            <a:avLst/>
          </a:prstGeom>
        </p:spPr>
      </p:pic>
    </p:spTree>
    <p:extLst>
      <p:ext uri="{BB962C8B-B14F-4D97-AF65-F5344CB8AC3E}">
        <p14:creationId xmlns:p14="http://schemas.microsoft.com/office/powerpoint/2010/main" val="572898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A0841BF-E2E0-B7C3-C5BF-46000B0036E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7B295DB-35D3-649F-1715-42653079A9B9}"/>
              </a:ext>
            </a:extLst>
          </p:cNvPr>
          <p:cNvSpPr txBox="1"/>
          <p:nvPr/>
        </p:nvSpPr>
        <p:spPr>
          <a:xfrm>
            <a:off x="2267099" y="90440"/>
            <a:ext cx="7657802" cy="769441"/>
          </a:xfrm>
          <a:prstGeom prst="rect">
            <a:avLst/>
          </a:prstGeom>
          <a:noFill/>
        </p:spPr>
        <p:txBody>
          <a:bodyPr wrap="none" rtlCol="0">
            <a:spAutoFit/>
          </a:bodyPr>
          <a:lstStyle/>
          <a:p>
            <a:pPr algn="ctr"/>
            <a:r>
              <a:rPr lang="en-US" sz="4400" b="1" dirty="0">
                <a:solidFill>
                  <a:schemeClr val="bg1"/>
                </a:solidFill>
              </a:rPr>
              <a:t>Large Language Models (LLM)</a:t>
            </a:r>
          </a:p>
        </p:txBody>
      </p:sp>
      <p:sp>
        <p:nvSpPr>
          <p:cNvPr id="4" name="TextBox 3">
            <a:extLst>
              <a:ext uri="{FF2B5EF4-FFF2-40B4-BE49-F238E27FC236}">
                <a16:creationId xmlns:a16="http://schemas.microsoft.com/office/drawing/2014/main" id="{448237D7-310A-1836-4B95-22A750128B67}"/>
              </a:ext>
            </a:extLst>
          </p:cNvPr>
          <p:cNvSpPr txBox="1"/>
          <p:nvPr/>
        </p:nvSpPr>
        <p:spPr>
          <a:xfrm>
            <a:off x="309083" y="1224358"/>
            <a:ext cx="3350213" cy="646331"/>
          </a:xfrm>
          <a:prstGeom prst="rect">
            <a:avLst/>
          </a:prstGeom>
          <a:noFill/>
        </p:spPr>
        <p:txBody>
          <a:bodyPr wrap="none" rtlCol="0">
            <a:spAutoFit/>
          </a:bodyPr>
          <a:lstStyle/>
          <a:p>
            <a:pPr algn="ctr"/>
            <a:r>
              <a:rPr lang="en-US" sz="3600" b="1" dirty="0">
                <a:solidFill>
                  <a:schemeClr val="bg1"/>
                </a:solidFill>
              </a:rPr>
              <a:t>LLM Structures</a:t>
            </a:r>
          </a:p>
        </p:txBody>
      </p:sp>
      <p:sp>
        <p:nvSpPr>
          <p:cNvPr id="8" name="TextBox 7">
            <a:extLst>
              <a:ext uri="{FF2B5EF4-FFF2-40B4-BE49-F238E27FC236}">
                <a16:creationId xmlns:a16="http://schemas.microsoft.com/office/drawing/2014/main" id="{72CD5ABB-07D4-0DB6-F8E4-B7DD1B430048}"/>
              </a:ext>
            </a:extLst>
          </p:cNvPr>
          <p:cNvSpPr txBox="1"/>
          <p:nvPr/>
        </p:nvSpPr>
        <p:spPr>
          <a:xfrm>
            <a:off x="599888" y="1888546"/>
            <a:ext cx="10792012" cy="4401205"/>
          </a:xfrm>
          <a:prstGeom prst="rect">
            <a:avLst/>
          </a:prstGeom>
          <a:noFill/>
        </p:spPr>
        <p:txBody>
          <a:bodyPr wrap="square" rtlCol="0">
            <a:spAutoFit/>
          </a:bodyPr>
          <a:lstStyle/>
          <a:p>
            <a:pPr marL="457200" indent="-457200">
              <a:buFont typeface="Arial" panose="020B0604020202020204" pitchFamily="34" charset="0"/>
              <a:buChar char="•"/>
            </a:pPr>
            <a:r>
              <a:rPr lang="en-US" sz="3200" dirty="0">
                <a:solidFill>
                  <a:schemeClr val="bg1"/>
                </a:solidFill>
              </a:rPr>
              <a:t>Used to understand and generate text. Read, think, and respond.</a:t>
            </a:r>
          </a:p>
          <a:p>
            <a:pPr marL="457200" indent="-457200">
              <a:buFont typeface="Arial" panose="020B0604020202020204" pitchFamily="34" charset="0"/>
              <a:buChar char="•"/>
            </a:pPr>
            <a:endParaRPr lang="en-US" sz="800" dirty="0">
              <a:solidFill>
                <a:schemeClr val="bg1"/>
              </a:solidFill>
            </a:endParaRPr>
          </a:p>
          <a:p>
            <a:pPr marL="457200" indent="-457200">
              <a:buFont typeface="Arial" panose="020B0604020202020204" pitchFamily="34" charset="0"/>
              <a:buChar char="•"/>
            </a:pPr>
            <a:r>
              <a:rPr lang="en-US" sz="3200" dirty="0">
                <a:solidFill>
                  <a:schemeClr val="bg1"/>
                </a:solidFill>
              </a:rPr>
              <a:t>“Think” isn’t like humans. They use patterns based on their huge input and respond with what the model considers correct.</a:t>
            </a:r>
          </a:p>
          <a:p>
            <a:pPr marL="457200" indent="-457200">
              <a:buFont typeface="Arial" panose="020B0604020202020204" pitchFamily="34" charset="0"/>
              <a:buChar char="•"/>
            </a:pPr>
            <a:endParaRPr lang="en-US" sz="800" dirty="0">
              <a:solidFill>
                <a:schemeClr val="bg1"/>
              </a:solidFill>
            </a:endParaRPr>
          </a:p>
          <a:p>
            <a:pPr marL="457200" indent="-457200">
              <a:buFont typeface="Arial" panose="020B0604020202020204" pitchFamily="34" charset="0"/>
              <a:buChar char="•"/>
            </a:pPr>
            <a:r>
              <a:rPr lang="en-US" sz="3200" dirty="0">
                <a:solidFill>
                  <a:schemeClr val="bg1"/>
                </a:solidFill>
              </a:rPr>
              <a:t>Common uses: Chatbots, language translations, writing, coding, tutors, article summarization, and more.</a:t>
            </a:r>
          </a:p>
          <a:p>
            <a:pPr marL="457200" indent="-457200">
              <a:buFont typeface="Arial" panose="020B0604020202020204" pitchFamily="34" charset="0"/>
              <a:buChar char="•"/>
            </a:pPr>
            <a:endParaRPr lang="en-US" sz="800" dirty="0">
              <a:solidFill>
                <a:schemeClr val="bg1"/>
              </a:solidFill>
            </a:endParaRPr>
          </a:p>
          <a:p>
            <a:pPr marL="457200" indent="-457200">
              <a:buFont typeface="Arial" panose="020B0604020202020204" pitchFamily="34" charset="0"/>
              <a:buChar char="•"/>
            </a:pPr>
            <a:r>
              <a:rPr lang="en-US" sz="3200" dirty="0">
                <a:solidFill>
                  <a:schemeClr val="bg1"/>
                </a:solidFill>
              </a:rPr>
              <a:t>Examples are ChatGPT and Google Gemini.</a:t>
            </a:r>
          </a:p>
        </p:txBody>
      </p:sp>
      <p:cxnSp>
        <p:nvCxnSpPr>
          <p:cNvPr id="3" name="Straight Connector 2">
            <a:extLst>
              <a:ext uri="{FF2B5EF4-FFF2-40B4-BE49-F238E27FC236}">
                <a16:creationId xmlns:a16="http://schemas.microsoft.com/office/drawing/2014/main" id="{AEA55CE6-917B-16F1-F11C-13AD8294827F}"/>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97F121DD-58C2-9A5D-BE36-5960172831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524" y="144775"/>
            <a:ext cx="922325" cy="678463"/>
          </a:xfrm>
          <a:prstGeom prst="rect">
            <a:avLst/>
          </a:prstGeom>
        </p:spPr>
      </p:pic>
    </p:spTree>
    <p:extLst>
      <p:ext uri="{BB962C8B-B14F-4D97-AF65-F5344CB8AC3E}">
        <p14:creationId xmlns:p14="http://schemas.microsoft.com/office/powerpoint/2010/main" val="3963680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2801360-5256-B0E8-EB3C-38330EFF18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990807-9459-799E-C703-6BDFD6D72EFC}"/>
              </a:ext>
            </a:extLst>
          </p:cNvPr>
          <p:cNvSpPr txBox="1"/>
          <p:nvPr/>
        </p:nvSpPr>
        <p:spPr>
          <a:xfrm>
            <a:off x="714013" y="97993"/>
            <a:ext cx="9938811" cy="769441"/>
          </a:xfrm>
          <a:prstGeom prst="rect">
            <a:avLst/>
          </a:prstGeom>
          <a:noFill/>
        </p:spPr>
        <p:txBody>
          <a:bodyPr wrap="none" rtlCol="0">
            <a:spAutoFit/>
          </a:bodyPr>
          <a:lstStyle/>
          <a:p>
            <a:pPr algn="ctr"/>
            <a:r>
              <a:rPr lang="en-US" sz="4400" b="1" dirty="0">
                <a:solidFill>
                  <a:schemeClr val="bg1"/>
                </a:solidFill>
              </a:rPr>
              <a:t>Convolutional Neural Network Models</a:t>
            </a:r>
          </a:p>
        </p:txBody>
      </p:sp>
      <p:sp>
        <p:nvSpPr>
          <p:cNvPr id="4" name="TextBox 3">
            <a:extLst>
              <a:ext uri="{FF2B5EF4-FFF2-40B4-BE49-F238E27FC236}">
                <a16:creationId xmlns:a16="http://schemas.microsoft.com/office/drawing/2014/main" id="{C244904E-AD26-0BF2-AC2A-F80D62DAE798}"/>
              </a:ext>
            </a:extLst>
          </p:cNvPr>
          <p:cNvSpPr txBox="1"/>
          <p:nvPr/>
        </p:nvSpPr>
        <p:spPr>
          <a:xfrm>
            <a:off x="367025" y="1218946"/>
            <a:ext cx="1176925" cy="646331"/>
          </a:xfrm>
          <a:prstGeom prst="rect">
            <a:avLst/>
          </a:prstGeom>
          <a:noFill/>
        </p:spPr>
        <p:txBody>
          <a:bodyPr wrap="none" rtlCol="0">
            <a:spAutoFit/>
          </a:bodyPr>
          <a:lstStyle/>
          <a:p>
            <a:pPr algn="ctr"/>
            <a:r>
              <a:rPr lang="en-US" sz="3600" b="1" dirty="0">
                <a:solidFill>
                  <a:schemeClr val="bg1"/>
                </a:solidFill>
              </a:rPr>
              <a:t>CNN</a:t>
            </a:r>
          </a:p>
        </p:txBody>
      </p:sp>
      <p:sp>
        <p:nvSpPr>
          <p:cNvPr id="8" name="TextBox 7">
            <a:extLst>
              <a:ext uri="{FF2B5EF4-FFF2-40B4-BE49-F238E27FC236}">
                <a16:creationId xmlns:a16="http://schemas.microsoft.com/office/drawing/2014/main" id="{B1AC1BD5-BB78-CB37-1E49-74A0FC362AE1}"/>
              </a:ext>
            </a:extLst>
          </p:cNvPr>
          <p:cNvSpPr txBox="1"/>
          <p:nvPr/>
        </p:nvSpPr>
        <p:spPr>
          <a:xfrm>
            <a:off x="955488" y="2131723"/>
            <a:ext cx="9483912" cy="584775"/>
          </a:xfrm>
          <a:prstGeom prst="rect">
            <a:avLst/>
          </a:prstGeom>
          <a:noFill/>
        </p:spPr>
        <p:txBody>
          <a:bodyPr wrap="square" rtlCol="0">
            <a:spAutoFit/>
          </a:bodyPr>
          <a:lstStyle/>
          <a:p>
            <a:pPr marL="457200" indent="-457200">
              <a:buFont typeface="Arial" panose="020B0604020202020204" pitchFamily="34" charset="0"/>
              <a:buChar char="•"/>
            </a:pPr>
            <a:r>
              <a:rPr lang="en-US" sz="3200" dirty="0">
                <a:solidFill>
                  <a:schemeClr val="bg1"/>
                </a:solidFill>
              </a:rPr>
              <a:t>Image, music and video production.</a:t>
            </a:r>
          </a:p>
        </p:txBody>
      </p:sp>
      <p:cxnSp>
        <p:nvCxnSpPr>
          <p:cNvPr id="3" name="Straight Connector 2">
            <a:extLst>
              <a:ext uri="{FF2B5EF4-FFF2-40B4-BE49-F238E27FC236}">
                <a16:creationId xmlns:a16="http://schemas.microsoft.com/office/drawing/2014/main" id="{D7A39538-21A0-93D3-00E2-727380BA7AD5}"/>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00C3D360-715F-9FE9-39B1-FB4B8418F3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524" y="144775"/>
            <a:ext cx="922325" cy="678463"/>
          </a:xfrm>
          <a:prstGeom prst="rect">
            <a:avLst/>
          </a:prstGeom>
        </p:spPr>
      </p:pic>
    </p:spTree>
    <p:extLst>
      <p:ext uri="{BB962C8B-B14F-4D97-AF65-F5344CB8AC3E}">
        <p14:creationId xmlns:p14="http://schemas.microsoft.com/office/powerpoint/2010/main" val="2737389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A74D86E-9A68-B357-90BC-88A8D63229F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1181C5-771F-1E32-7478-8D4C0E9F8FD1}"/>
              </a:ext>
            </a:extLst>
          </p:cNvPr>
          <p:cNvSpPr txBox="1"/>
          <p:nvPr/>
        </p:nvSpPr>
        <p:spPr>
          <a:xfrm>
            <a:off x="2504510" y="97993"/>
            <a:ext cx="6357831" cy="769441"/>
          </a:xfrm>
          <a:prstGeom prst="rect">
            <a:avLst/>
          </a:prstGeom>
          <a:noFill/>
        </p:spPr>
        <p:txBody>
          <a:bodyPr wrap="none" rtlCol="0">
            <a:spAutoFit/>
          </a:bodyPr>
          <a:lstStyle/>
          <a:p>
            <a:pPr algn="ctr"/>
            <a:r>
              <a:rPr lang="en-US" sz="4400" b="1" dirty="0">
                <a:solidFill>
                  <a:schemeClr val="bg1"/>
                </a:solidFill>
              </a:rPr>
              <a:t>OpenAI, Gemini, Claude</a:t>
            </a:r>
          </a:p>
        </p:txBody>
      </p:sp>
      <p:sp>
        <p:nvSpPr>
          <p:cNvPr id="4" name="TextBox 3">
            <a:extLst>
              <a:ext uri="{FF2B5EF4-FFF2-40B4-BE49-F238E27FC236}">
                <a16:creationId xmlns:a16="http://schemas.microsoft.com/office/drawing/2014/main" id="{79F35E10-4501-D6D9-73FB-E3C20C2AA3C2}"/>
              </a:ext>
            </a:extLst>
          </p:cNvPr>
          <p:cNvSpPr txBox="1"/>
          <p:nvPr/>
        </p:nvSpPr>
        <p:spPr>
          <a:xfrm>
            <a:off x="468015" y="1218946"/>
            <a:ext cx="8431411" cy="646331"/>
          </a:xfrm>
          <a:prstGeom prst="rect">
            <a:avLst/>
          </a:prstGeom>
          <a:noFill/>
        </p:spPr>
        <p:txBody>
          <a:bodyPr wrap="none" rtlCol="0">
            <a:spAutoFit/>
          </a:bodyPr>
          <a:lstStyle/>
          <a:p>
            <a:r>
              <a:rPr lang="en-US" sz="3600" b="1" dirty="0">
                <a:solidFill>
                  <a:schemeClr val="bg1"/>
                </a:solidFill>
              </a:rPr>
              <a:t>Popular Artificial Intelligence Platforms</a:t>
            </a:r>
          </a:p>
        </p:txBody>
      </p:sp>
      <p:sp>
        <p:nvSpPr>
          <p:cNvPr id="8" name="TextBox 7">
            <a:extLst>
              <a:ext uri="{FF2B5EF4-FFF2-40B4-BE49-F238E27FC236}">
                <a16:creationId xmlns:a16="http://schemas.microsoft.com/office/drawing/2014/main" id="{BCCBDBD1-8E9B-19E2-C45A-516FD9F06298}"/>
              </a:ext>
            </a:extLst>
          </p:cNvPr>
          <p:cNvSpPr txBox="1"/>
          <p:nvPr/>
        </p:nvSpPr>
        <p:spPr>
          <a:xfrm>
            <a:off x="955488" y="2131723"/>
            <a:ext cx="9483912" cy="3539430"/>
          </a:xfrm>
          <a:prstGeom prst="rect">
            <a:avLst/>
          </a:prstGeom>
          <a:noFill/>
        </p:spPr>
        <p:txBody>
          <a:bodyPr wrap="square" rtlCol="0">
            <a:spAutoFit/>
          </a:bodyPr>
          <a:lstStyle/>
          <a:p>
            <a:pPr marL="457200" indent="-457200">
              <a:buFont typeface="Arial" panose="020B0604020202020204" pitchFamily="34" charset="0"/>
              <a:buChar char="•"/>
            </a:pPr>
            <a:r>
              <a:rPr lang="en-US" sz="3200" dirty="0">
                <a:solidFill>
                  <a:schemeClr val="bg1"/>
                </a:solidFill>
              </a:rPr>
              <a:t>Textual</a:t>
            </a:r>
          </a:p>
          <a:p>
            <a:pPr lvl="1"/>
            <a:endParaRPr lang="en-US" sz="3200" dirty="0">
              <a:solidFill>
                <a:schemeClr val="bg1"/>
              </a:solidFill>
            </a:endParaRPr>
          </a:p>
          <a:p>
            <a:pPr marL="457200" indent="-457200">
              <a:buFont typeface="Arial" panose="020B0604020202020204" pitchFamily="34" charset="0"/>
              <a:buChar char="•"/>
            </a:pPr>
            <a:r>
              <a:rPr lang="en-US" sz="3200" dirty="0">
                <a:solidFill>
                  <a:schemeClr val="bg1"/>
                </a:solidFill>
              </a:rPr>
              <a:t>Pictures</a:t>
            </a:r>
          </a:p>
          <a:p>
            <a:pPr marL="914400" lvl="1" indent="-457200">
              <a:buFont typeface="Arial" panose="020B0604020202020204" pitchFamily="34" charset="0"/>
              <a:buChar char="•"/>
            </a:pPr>
            <a:r>
              <a:rPr lang="en-US" sz="3200" dirty="0">
                <a:solidFill>
                  <a:schemeClr val="bg1"/>
                </a:solidFill>
              </a:rPr>
              <a:t>Midjourney discussed next.</a:t>
            </a:r>
          </a:p>
          <a:p>
            <a:pPr lvl="1"/>
            <a:endParaRPr lang="en-US" sz="3200" dirty="0">
              <a:solidFill>
                <a:schemeClr val="bg1"/>
              </a:solidFill>
            </a:endParaRPr>
          </a:p>
          <a:p>
            <a:pPr marL="914400" lvl="1" indent="-457200">
              <a:buFont typeface="Arial" panose="020B0604020202020204" pitchFamily="34" charset="0"/>
              <a:buChar char="•"/>
            </a:pPr>
            <a:r>
              <a:rPr lang="en-US" sz="3200" dirty="0">
                <a:solidFill>
                  <a:schemeClr val="bg1"/>
                </a:solidFill>
              </a:rPr>
              <a:t>Video Production</a:t>
            </a:r>
          </a:p>
          <a:p>
            <a:pPr lvl="1"/>
            <a:endParaRPr lang="en-US" sz="3200" dirty="0">
              <a:solidFill>
                <a:schemeClr val="bg1"/>
              </a:solidFill>
            </a:endParaRPr>
          </a:p>
        </p:txBody>
      </p:sp>
      <p:cxnSp>
        <p:nvCxnSpPr>
          <p:cNvPr id="3" name="Straight Connector 2">
            <a:extLst>
              <a:ext uri="{FF2B5EF4-FFF2-40B4-BE49-F238E27FC236}">
                <a16:creationId xmlns:a16="http://schemas.microsoft.com/office/drawing/2014/main" id="{FD002192-AA46-FADE-E79C-AE1696CDCC40}"/>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D07FEEBD-4A2F-D646-233C-FAD5B2761B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45295" y="143481"/>
            <a:ext cx="922325" cy="678463"/>
          </a:xfrm>
          <a:prstGeom prst="rect">
            <a:avLst/>
          </a:prstGeom>
        </p:spPr>
      </p:pic>
    </p:spTree>
    <p:extLst>
      <p:ext uri="{BB962C8B-B14F-4D97-AF65-F5344CB8AC3E}">
        <p14:creationId xmlns:p14="http://schemas.microsoft.com/office/powerpoint/2010/main" val="875611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91EC895-8B4C-2B57-2651-33542CBCEE21}"/>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028E5AC-2440-27F4-522B-742EDE772624}"/>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2" name="Picture 1">
            <a:extLst>
              <a:ext uri="{FF2B5EF4-FFF2-40B4-BE49-F238E27FC236}">
                <a16:creationId xmlns:a16="http://schemas.microsoft.com/office/drawing/2014/main" id="{B1AB3F72-5FC1-6D8B-ABCD-A8CB3EB9B2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9489" y="1512663"/>
            <a:ext cx="6353021" cy="4673287"/>
          </a:xfrm>
          <a:prstGeom prst="rect">
            <a:avLst/>
          </a:prstGeom>
        </p:spPr>
      </p:pic>
    </p:spTree>
    <p:extLst>
      <p:ext uri="{BB962C8B-B14F-4D97-AF65-F5344CB8AC3E}">
        <p14:creationId xmlns:p14="http://schemas.microsoft.com/office/powerpoint/2010/main" val="1145285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18ABD7D-42BD-EFE2-3DD4-B759CB89D2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CD818F-2753-2339-C455-A3435EF110B9}"/>
              </a:ext>
            </a:extLst>
          </p:cNvPr>
          <p:cNvSpPr txBox="1"/>
          <p:nvPr/>
        </p:nvSpPr>
        <p:spPr>
          <a:xfrm>
            <a:off x="289104" y="97993"/>
            <a:ext cx="10788659" cy="769441"/>
          </a:xfrm>
          <a:prstGeom prst="rect">
            <a:avLst/>
          </a:prstGeom>
          <a:noFill/>
        </p:spPr>
        <p:txBody>
          <a:bodyPr wrap="none" rtlCol="0">
            <a:spAutoFit/>
          </a:bodyPr>
          <a:lstStyle/>
          <a:p>
            <a:pPr algn="ctr"/>
            <a:r>
              <a:rPr lang="en-US" sz="4400" b="1" dirty="0">
                <a:solidFill>
                  <a:schemeClr val="bg1"/>
                </a:solidFill>
              </a:rPr>
              <a:t>Image Creation (Midjourney, GPT, Gemini)</a:t>
            </a:r>
          </a:p>
        </p:txBody>
      </p:sp>
      <p:sp>
        <p:nvSpPr>
          <p:cNvPr id="4" name="TextBox 3">
            <a:extLst>
              <a:ext uri="{FF2B5EF4-FFF2-40B4-BE49-F238E27FC236}">
                <a16:creationId xmlns:a16="http://schemas.microsoft.com/office/drawing/2014/main" id="{4B7AB4AD-7316-C0FC-80C7-CEC62B243B11}"/>
              </a:ext>
            </a:extLst>
          </p:cNvPr>
          <p:cNvSpPr txBox="1"/>
          <p:nvPr/>
        </p:nvSpPr>
        <p:spPr>
          <a:xfrm>
            <a:off x="585373" y="1081763"/>
            <a:ext cx="6978770" cy="646331"/>
          </a:xfrm>
          <a:prstGeom prst="rect">
            <a:avLst/>
          </a:prstGeom>
          <a:noFill/>
        </p:spPr>
        <p:txBody>
          <a:bodyPr wrap="none" rtlCol="0">
            <a:spAutoFit/>
          </a:bodyPr>
          <a:lstStyle/>
          <a:p>
            <a:pPr algn="ctr"/>
            <a:r>
              <a:rPr lang="en-US" sz="3600" b="1" dirty="0">
                <a:solidFill>
                  <a:schemeClr val="bg1"/>
                </a:solidFill>
              </a:rPr>
              <a:t>Midjourney Website and Discord</a:t>
            </a:r>
          </a:p>
        </p:txBody>
      </p:sp>
      <p:sp>
        <p:nvSpPr>
          <p:cNvPr id="8" name="TextBox 7">
            <a:extLst>
              <a:ext uri="{FF2B5EF4-FFF2-40B4-BE49-F238E27FC236}">
                <a16:creationId xmlns:a16="http://schemas.microsoft.com/office/drawing/2014/main" id="{1122F1A9-040A-B1EA-4871-99D73F74EAFA}"/>
              </a:ext>
            </a:extLst>
          </p:cNvPr>
          <p:cNvSpPr txBox="1"/>
          <p:nvPr/>
        </p:nvSpPr>
        <p:spPr>
          <a:xfrm>
            <a:off x="585373" y="1805142"/>
            <a:ext cx="9483912"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chemeClr val="bg1"/>
                </a:solidFill>
              </a:rPr>
              <a:t>Giving textual commands.</a:t>
            </a:r>
          </a:p>
          <a:p>
            <a:pPr marL="914400" lvl="1" indent="-457200">
              <a:buFont typeface="Arial" panose="020B0604020202020204" pitchFamily="34" charset="0"/>
              <a:buChar char="•"/>
            </a:pPr>
            <a:r>
              <a:rPr lang="en-US" sz="2800" dirty="0">
                <a:solidFill>
                  <a:schemeClr val="bg1"/>
                </a:solidFill>
              </a:rPr>
              <a:t>Style, specific camera settings, etc.</a:t>
            </a:r>
          </a:p>
          <a:p>
            <a:pPr marL="914400" lvl="1" indent="-457200">
              <a:buFont typeface="Arial" panose="020B0604020202020204" pitchFamily="34" charset="0"/>
              <a:buChar char="•"/>
            </a:pPr>
            <a:r>
              <a:rPr lang="en-US" sz="2800" dirty="0">
                <a:solidFill>
                  <a:schemeClr val="bg1"/>
                </a:solidFill>
              </a:rPr>
              <a:t>Ethical if artist names are used? Yes, or No?</a:t>
            </a:r>
          </a:p>
          <a:p>
            <a:pPr marL="914400" lvl="1" indent="-457200">
              <a:buFont typeface="Arial" panose="020B0604020202020204" pitchFamily="34" charset="0"/>
              <a:buChar char="•"/>
            </a:pPr>
            <a:endParaRPr lang="en-US" sz="2800" dirty="0">
              <a:solidFill>
                <a:schemeClr val="bg1"/>
              </a:solidFill>
            </a:endParaRPr>
          </a:p>
          <a:p>
            <a:pPr marL="457200" indent="-457200">
              <a:buFont typeface="Arial" panose="020B0604020202020204" pitchFamily="34" charset="0"/>
              <a:buChar char="•"/>
            </a:pPr>
            <a:r>
              <a:rPr lang="en-US" sz="2800" dirty="0">
                <a:solidFill>
                  <a:schemeClr val="bg1"/>
                </a:solidFill>
              </a:rPr>
              <a:t>Slideshows, documentation, art, and video uses.</a:t>
            </a:r>
          </a:p>
          <a:p>
            <a:pPr marL="914400" lvl="1" indent="-457200">
              <a:buFont typeface="Arial" panose="020B0604020202020204" pitchFamily="34" charset="0"/>
              <a:buChar char="•"/>
            </a:pPr>
            <a:r>
              <a:rPr lang="en-US" sz="2800" dirty="0">
                <a:solidFill>
                  <a:schemeClr val="bg1"/>
                </a:solidFill>
              </a:rPr>
              <a:t>Quick for presentations, etc.</a:t>
            </a:r>
          </a:p>
          <a:p>
            <a:pPr marL="457200" indent="-457200">
              <a:buFont typeface="Arial" panose="020B0604020202020204" pitchFamily="34" charset="0"/>
              <a:buChar char="•"/>
            </a:pPr>
            <a:endParaRPr lang="en-US" sz="2800" dirty="0">
              <a:solidFill>
                <a:schemeClr val="bg1"/>
              </a:solidFill>
            </a:endParaRPr>
          </a:p>
          <a:p>
            <a:pPr marL="457200" indent="-457200">
              <a:buFont typeface="Arial" panose="020B0604020202020204" pitchFamily="34" charset="0"/>
              <a:buChar char="•"/>
            </a:pPr>
            <a:r>
              <a:rPr lang="en-US" sz="2800" dirty="0">
                <a:solidFill>
                  <a:schemeClr val="bg1"/>
                </a:solidFill>
              </a:rPr>
              <a:t>Video creation uses.</a:t>
            </a:r>
          </a:p>
          <a:p>
            <a:pPr marL="914400" lvl="1" indent="-457200">
              <a:buFont typeface="Arial" panose="020B0604020202020204" pitchFamily="34" charset="0"/>
              <a:buChar char="•"/>
            </a:pPr>
            <a:r>
              <a:rPr lang="en-US" sz="2800" dirty="0">
                <a:solidFill>
                  <a:schemeClr val="bg1"/>
                </a:solidFill>
              </a:rPr>
              <a:t>Midjourney discussed next.</a:t>
            </a:r>
          </a:p>
        </p:txBody>
      </p:sp>
      <p:cxnSp>
        <p:nvCxnSpPr>
          <p:cNvPr id="3" name="Straight Connector 2">
            <a:extLst>
              <a:ext uri="{FF2B5EF4-FFF2-40B4-BE49-F238E27FC236}">
                <a16:creationId xmlns:a16="http://schemas.microsoft.com/office/drawing/2014/main" id="{9B02B0DC-76FD-E2ED-73B9-C50FCAB0BDEE}"/>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C27F2A7F-1314-AE90-4553-1BE95F0F26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524" y="144775"/>
            <a:ext cx="922325" cy="678463"/>
          </a:xfrm>
          <a:prstGeom prst="rect">
            <a:avLst/>
          </a:prstGeom>
        </p:spPr>
      </p:pic>
    </p:spTree>
    <p:extLst>
      <p:ext uri="{BB962C8B-B14F-4D97-AF65-F5344CB8AC3E}">
        <p14:creationId xmlns:p14="http://schemas.microsoft.com/office/powerpoint/2010/main" val="2441892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EBA7F52-0E64-D82B-3B74-719FE0376A97}"/>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F613A4BE-ADBB-C6D4-17E4-577C02B2D925}"/>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2" name="Picture 1">
            <a:extLst>
              <a:ext uri="{FF2B5EF4-FFF2-40B4-BE49-F238E27FC236}">
                <a16:creationId xmlns:a16="http://schemas.microsoft.com/office/drawing/2014/main" id="{54B04DAB-265B-F13D-B5B2-393008F1DC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9489" y="1633242"/>
            <a:ext cx="6353021" cy="4673287"/>
          </a:xfrm>
          <a:prstGeom prst="rect">
            <a:avLst/>
          </a:prstGeom>
        </p:spPr>
      </p:pic>
    </p:spTree>
    <p:extLst>
      <p:ext uri="{BB962C8B-B14F-4D97-AF65-F5344CB8AC3E}">
        <p14:creationId xmlns:p14="http://schemas.microsoft.com/office/powerpoint/2010/main" val="6608858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2CBCC91-EC13-3649-E5EA-E87BFDB6740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7FBD8EA-8558-DB64-3A80-D48584601F68}"/>
              </a:ext>
            </a:extLst>
          </p:cNvPr>
          <p:cNvSpPr txBox="1"/>
          <p:nvPr/>
        </p:nvSpPr>
        <p:spPr>
          <a:xfrm>
            <a:off x="1375692" y="97993"/>
            <a:ext cx="8615500" cy="769441"/>
          </a:xfrm>
          <a:prstGeom prst="rect">
            <a:avLst/>
          </a:prstGeom>
          <a:noFill/>
        </p:spPr>
        <p:txBody>
          <a:bodyPr wrap="none" rtlCol="0">
            <a:spAutoFit/>
          </a:bodyPr>
          <a:lstStyle/>
          <a:p>
            <a:pPr algn="ctr"/>
            <a:r>
              <a:rPr lang="en-US" sz="4400" b="1" dirty="0">
                <a:solidFill>
                  <a:schemeClr val="bg1"/>
                </a:solidFill>
              </a:rPr>
              <a:t>Suno For Music, Ableton Website</a:t>
            </a:r>
          </a:p>
        </p:txBody>
      </p:sp>
      <p:sp>
        <p:nvSpPr>
          <p:cNvPr id="4" name="TextBox 3">
            <a:extLst>
              <a:ext uri="{FF2B5EF4-FFF2-40B4-BE49-F238E27FC236}">
                <a16:creationId xmlns:a16="http://schemas.microsoft.com/office/drawing/2014/main" id="{ECE45AEF-81A1-2677-A2B9-2C1192A295BF}"/>
              </a:ext>
            </a:extLst>
          </p:cNvPr>
          <p:cNvSpPr txBox="1"/>
          <p:nvPr/>
        </p:nvSpPr>
        <p:spPr>
          <a:xfrm>
            <a:off x="256757" y="1055656"/>
            <a:ext cx="2842445" cy="646331"/>
          </a:xfrm>
          <a:prstGeom prst="rect">
            <a:avLst/>
          </a:prstGeom>
          <a:noFill/>
        </p:spPr>
        <p:txBody>
          <a:bodyPr wrap="none" rtlCol="0">
            <a:spAutoFit/>
          </a:bodyPr>
          <a:lstStyle/>
          <a:p>
            <a:pPr algn="ctr"/>
            <a:r>
              <a:rPr lang="en-US" sz="3600" b="1" dirty="0">
                <a:solidFill>
                  <a:schemeClr val="bg1"/>
                </a:solidFill>
              </a:rPr>
              <a:t>Suno Coding</a:t>
            </a:r>
          </a:p>
        </p:txBody>
      </p:sp>
      <p:sp>
        <p:nvSpPr>
          <p:cNvPr id="8" name="TextBox 7">
            <a:extLst>
              <a:ext uri="{FF2B5EF4-FFF2-40B4-BE49-F238E27FC236}">
                <a16:creationId xmlns:a16="http://schemas.microsoft.com/office/drawing/2014/main" id="{F4C840F1-ADF4-0BCD-9444-C33AE2D8142A}"/>
              </a:ext>
            </a:extLst>
          </p:cNvPr>
          <p:cNvSpPr txBox="1"/>
          <p:nvPr/>
        </p:nvSpPr>
        <p:spPr>
          <a:xfrm>
            <a:off x="607145" y="1696291"/>
            <a:ext cx="9483912" cy="3785652"/>
          </a:xfrm>
          <a:prstGeom prst="rect">
            <a:avLst/>
          </a:prstGeom>
          <a:noFill/>
        </p:spPr>
        <p:txBody>
          <a:bodyPr wrap="square" rtlCol="0">
            <a:spAutoFit/>
          </a:bodyPr>
          <a:lstStyle/>
          <a:p>
            <a:pPr marL="457200" indent="-457200">
              <a:buFont typeface="Arial" panose="020B0604020202020204" pitchFamily="34" charset="0"/>
              <a:buChar char="•"/>
            </a:pPr>
            <a:r>
              <a:rPr lang="en-US" sz="2400" dirty="0">
                <a:solidFill>
                  <a:schemeClr val="bg1"/>
                </a:solidFill>
              </a:rPr>
              <a:t>&lt;show [Intro], [Verse], [Bridge], [Outro] uses&gt;</a:t>
            </a:r>
          </a:p>
          <a:p>
            <a:pPr marL="914400" lvl="1" indent="-457200">
              <a:buFont typeface="Arial" panose="020B0604020202020204" pitchFamily="34" charset="0"/>
              <a:buChar char="•"/>
            </a:pPr>
            <a:r>
              <a:rPr lang="en-US" sz="2400" dirty="0">
                <a:solidFill>
                  <a:schemeClr val="bg1"/>
                </a:solidFill>
              </a:rPr>
              <a:t>Suno music creation.</a:t>
            </a:r>
          </a:p>
          <a:p>
            <a:pPr marL="914400" lvl="1" indent="-457200">
              <a:buFont typeface="Arial" panose="020B0604020202020204" pitchFamily="34" charset="0"/>
              <a:buChar char="•"/>
            </a:pPr>
            <a:endParaRPr lang="en-US" sz="2400" dirty="0">
              <a:solidFill>
                <a:schemeClr val="bg1"/>
              </a:solidFill>
            </a:endParaRPr>
          </a:p>
          <a:p>
            <a:pPr marL="457200" indent="-457200">
              <a:buFont typeface="Arial" panose="020B0604020202020204" pitchFamily="34" charset="0"/>
              <a:buChar char="•"/>
            </a:pPr>
            <a:r>
              <a:rPr lang="en-US" sz="2400" dirty="0">
                <a:solidFill>
                  <a:schemeClr val="bg1"/>
                </a:solidFill>
              </a:rPr>
              <a:t>Genre styles</a:t>
            </a:r>
          </a:p>
          <a:p>
            <a:pPr marL="914400" lvl="1" indent="-457200">
              <a:buFont typeface="Arial" panose="020B0604020202020204" pitchFamily="34" charset="0"/>
              <a:buChar char="•"/>
            </a:pPr>
            <a:r>
              <a:rPr lang="en-US" sz="2400" dirty="0">
                <a:solidFill>
                  <a:schemeClr val="bg1"/>
                </a:solidFill>
              </a:rPr>
              <a:t>djent, instrumental, male voice, hard rock, chill step, symphonic orchestra, R&amp;B, etc.</a:t>
            </a:r>
          </a:p>
          <a:p>
            <a:pPr marL="457200" indent="-457200">
              <a:buFont typeface="Arial" panose="020B0604020202020204" pitchFamily="34" charset="0"/>
              <a:buChar char="•"/>
            </a:pPr>
            <a:endParaRPr lang="en-US" sz="2400" dirty="0">
              <a:solidFill>
                <a:schemeClr val="bg1"/>
              </a:solidFill>
            </a:endParaRPr>
          </a:p>
          <a:p>
            <a:pPr marL="457200" indent="-457200">
              <a:buFont typeface="Arial" panose="020B0604020202020204" pitchFamily="34" charset="0"/>
              <a:buChar char="•"/>
            </a:pPr>
            <a:r>
              <a:rPr lang="en-US" sz="2400" dirty="0">
                <a:solidFill>
                  <a:schemeClr val="bg1"/>
                </a:solidFill>
              </a:rPr>
              <a:t>Editing</a:t>
            </a:r>
          </a:p>
          <a:p>
            <a:pPr marL="914400" lvl="1" indent="-457200">
              <a:buFont typeface="Arial" panose="020B0604020202020204" pitchFamily="34" charset="0"/>
              <a:buChar char="•"/>
            </a:pPr>
            <a:r>
              <a:rPr lang="en-US" sz="2400" dirty="0">
                <a:solidFill>
                  <a:schemeClr val="bg1"/>
                </a:solidFill>
              </a:rPr>
              <a:t>Clipping</a:t>
            </a:r>
          </a:p>
          <a:p>
            <a:pPr marL="914400" lvl="1" indent="-457200">
              <a:buFont typeface="Arial" panose="020B0604020202020204" pitchFamily="34" charset="0"/>
              <a:buChar char="•"/>
            </a:pPr>
            <a:r>
              <a:rPr lang="en-US" sz="2400" dirty="0">
                <a:solidFill>
                  <a:schemeClr val="bg1"/>
                </a:solidFill>
              </a:rPr>
              <a:t>Extending</a:t>
            </a:r>
          </a:p>
        </p:txBody>
      </p:sp>
      <p:cxnSp>
        <p:nvCxnSpPr>
          <p:cNvPr id="3" name="Straight Connector 2">
            <a:extLst>
              <a:ext uri="{FF2B5EF4-FFF2-40B4-BE49-F238E27FC236}">
                <a16:creationId xmlns:a16="http://schemas.microsoft.com/office/drawing/2014/main" id="{C899B109-3C8E-1D9A-4F0F-F632058BCAFF}"/>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73E56478-9E64-56D0-444B-D5A59187F3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524" y="144775"/>
            <a:ext cx="922325" cy="678463"/>
          </a:xfrm>
          <a:prstGeom prst="rect">
            <a:avLst/>
          </a:prstGeom>
        </p:spPr>
      </p:pic>
    </p:spTree>
    <p:extLst>
      <p:ext uri="{BB962C8B-B14F-4D97-AF65-F5344CB8AC3E}">
        <p14:creationId xmlns:p14="http://schemas.microsoft.com/office/powerpoint/2010/main" val="927132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56B56D7-E602-C5F4-FC51-BC8C9049D69F}"/>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F6199744-4383-91E7-C2AF-C844CB0DC5F8}"/>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2" name="Picture 1">
            <a:extLst>
              <a:ext uri="{FF2B5EF4-FFF2-40B4-BE49-F238E27FC236}">
                <a16:creationId xmlns:a16="http://schemas.microsoft.com/office/drawing/2014/main" id="{8956C7E8-2C47-08E5-F578-6E4A2779BE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9489" y="1422227"/>
            <a:ext cx="6353021" cy="4673287"/>
          </a:xfrm>
          <a:prstGeom prst="rect">
            <a:avLst/>
          </a:prstGeom>
        </p:spPr>
      </p:pic>
    </p:spTree>
    <p:extLst>
      <p:ext uri="{BB962C8B-B14F-4D97-AF65-F5344CB8AC3E}">
        <p14:creationId xmlns:p14="http://schemas.microsoft.com/office/powerpoint/2010/main" val="879976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E6FCA74-D728-9B34-FE27-BFE5128309B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7C761DA-E272-FC74-9441-1473A4C10752}"/>
              </a:ext>
            </a:extLst>
          </p:cNvPr>
          <p:cNvSpPr txBox="1"/>
          <p:nvPr/>
        </p:nvSpPr>
        <p:spPr>
          <a:xfrm>
            <a:off x="695055" y="97993"/>
            <a:ext cx="9976770" cy="769441"/>
          </a:xfrm>
          <a:prstGeom prst="rect">
            <a:avLst/>
          </a:prstGeom>
          <a:noFill/>
        </p:spPr>
        <p:txBody>
          <a:bodyPr wrap="none" rtlCol="0">
            <a:spAutoFit/>
          </a:bodyPr>
          <a:lstStyle/>
          <a:p>
            <a:pPr algn="ctr"/>
            <a:r>
              <a:rPr lang="en-US" sz="4400" b="1" dirty="0">
                <a:solidFill>
                  <a:schemeClr val="bg1"/>
                </a:solidFill>
              </a:rPr>
              <a:t>Kling, Luma Dream Machine, &lt;Others&gt;</a:t>
            </a:r>
          </a:p>
        </p:txBody>
      </p:sp>
      <p:sp>
        <p:nvSpPr>
          <p:cNvPr id="4" name="TextBox 3">
            <a:extLst>
              <a:ext uri="{FF2B5EF4-FFF2-40B4-BE49-F238E27FC236}">
                <a16:creationId xmlns:a16="http://schemas.microsoft.com/office/drawing/2014/main" id="{CFB023F4-3EBD-9A45-BC83-276D28503506}"/>
              </a:ext>
            </a:extLst>
          </p:cNvPr>
          <p:cNvSpPr txBox="1"/>
          <p:nvPr/>
        </p:nvSpPr>
        <p:spPr>
          <a:xfrm>
            <a:off x="363975" y="1049960"/>
            <a:ext cx="1234633" cy="646331"/>
          </a:xfrm>
          <a:prstGeom prst="rect">
            <a:avLst/>
          </a:prstGeom>
          <a:noFill/>
        </p:spPr>
        <p:txBody>
          <a:bodyPr wrap="none" rtlCol="0">
            <a:spAutoFit/>
          </a:bodyPr>
          <a:lstStyle/>
          <a:p>
            <a:pPr algn="ctr"/>
            <a:r>
              <a:rPr lang="en-US" sz="3600" b="1" dirty="0">
                <a:solidFill>
                  <a:schemeClr val="bg1"/>
                </a:solidFill>
              </a:rPr>
              <a:t>Kling</a:t>
            </a:r>
          </a:p>
        </p:txBody>
      </p:sp>
      <p:sp>
        <p:nvSpPr>
          <p:cNvPr id="8" name="TextBox 7">
            <a:extLst>
              <a:ext uri="{FF2B5EF4-FFF2-40B4-BE49-F238E27FC236}">
                <a16:creationId xmlns:a16="http://schemas.microsoft.com/office/drawing/2014/main" id="{4E5A46A1-3B27-2572-6682-C3CDFB4D1BE4}"/>
              </a:ext>
            </a:extLst>
          </p:cNvPr>
          <p:cNvSpPr txBox="1"/>
          <p:nvPr/>
        </p:nvSpPr>
        <p:spPr>
          <a:xfrm>
            <a:off x="607145" y="1696291"/>
            <a:ext cx="9483912" cy="3108543"/>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chemeClr val="bg1"/>
                </a:solidFill>
              </a:rPr>
              <a:t>Give descriptive commands.</a:t>
            </a:r>
          </a:p>
          <a:p>
            <a:pPr marL="914400" lvl="1" indent="-457200">
              <a:buFont typeface="Arial" panose="020B0604020202020204" pitchFamily="34" charset="0"/>
              <a:buChar char="•"/>
            </a:pPr>
            <a:r>
              <a:rPr lang="en-US" sz="2800" dirty="0">
                <a:solidFill>
                  <a:schemeClr val="bg1"/>
                </a:solidFill>
              </a:rPr>
              <a:t>&lt;show slide of the 5&gt;</a:t>
            </a:r>
          </a:p>
          <a:p>
            <a:pPr marL="914400" lvl="1" indent="-457200">
              <a:buFont typeface="Arial" panose="020B0604020202020204" pitchFamily="34" charset="0"/>
              <a:buChar char="•"/>
            </a:pPr>
            <a:endParaRPr lang="en-US" sz="2800" dirty="0">
              <a:solidFill>
                <a:schemeClr val="bg1"/>
              </a:solidFill>
            </a:endParaRPr>
          </a:p>
          <a:p>
            <a:pPr marL="457200" indent="-457200">
              <a:buFont typeface="Arial" panose="020B0604020202020204" pitchFamily="34" charset="0"/>
              <a:buChar char="•"/>
            </a:pPr>
            <a:r>
              <a:rPr lang="en-US" sz="2800" dirty="0">
                <a:solidFill>
                  <a:schemeClr val="bg1"/>
                </a:solidFill>
              </a:rPr>
              <a:t>Credits</a:t>
            </a:r>
          </a:p>
          <a:p>
            <a:pPr marL="914400" lvl="1" indent="-457200">
              <a:buFont typeface="Arial" panose="020B0604020202020204" pitchFamily="34" charset="0"/>
              <a:buChar char="•"/>
            </a:pPr>
            <a:r>
              <a:rPr lang="en-US" sz="2800" dirty="0">
                <a:solidFill>
                  <a:schemeClr val="bg1"/>
                </a:solidFill>
              </a:rPr>
              <a:t>1.6 to 2.0</a:t>
            </a:r>
          </a:p>
          <a:p>
            <a:endParaRPr lang="en-US" sz="2800" dirty="0">
              <a:solidFill>
                <a:schemeClr val="bg1"/>
              </a:solidFill>
            </a:endParaRPr>
          </a:p>
          <a:p>
            <a:pPr marL="457200" indent="-457200">
              <a:buFont typeface="Arial" panose="020B0604020202020204" pitchFamily="34" charset="0"/>
              <a:buChar char="•"/>
            </a:pPr>
            <a:r>
              <a:rPr lang="en-US" sz="2800" dirty="0">
                <a:solidFill>
                  <a:schemeClr val="bg1"/>
                </a:solidFill>
              </a:rPr>
              <a:t>Microsoft Clipchamp Editing</a:t>
            </a:r>
          </a:p>
        </p:txBody>
      </p:sp>
      <p:cxnSp>
        <p:nvCxnSpPr>
          <p:cNvPr id="3" name="Straight Connector 2">
            <a:extLst>
              <a:ext uri="{FF2B5EF4-FFF2-40B4-BE49-F238E27FC236}">
                <a16:creationId xmlns:a16="http://schemas.microsoft.com/office/drawing/2014/main" id="{6169247B-BE05-592A-980A-0DF4C7109537}"/>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417DEDC5-6865-6FE4-5171-2F3DD190FB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524" y="144775"/>
            <a:ext cx="922325" cy="678463"/>
          </a:xfrm>
          <a:prstGeom prst="rect">
            <a:avLst/>
          </a:prstGeom>
        </p:spPr>
      </p:pic>
    </p:spTree>
    <p:extLst>
      <p:ext uri="{BB962C8B-B14F-4D97-AF65-F5344CB8AC3E}">
        <p14:creationId xmlns:p14="http://schemas.microsoft.com/office/powerpoint/2010/main" val="3733160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58188DF-42CD-1210-981E-62715236A119}"/>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670E882-488E-EDC0-97B7-4CE084D41C6F}"/>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2" name="Picture 1">
            <a:extLst>
              <a:ext uri="{FF2B5EF4-FFF2-40B4-BE49-F238E27FC236}">
                <a16:creationId xmlns:a16="http://schemas.microsoft.com/office/drawing/2014/main" id="{8B375C3E-96C0-5F8D-4321-348BF9689F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9489" y="1583001"/>
            <a:ext cx="6353021" cy="4673287"/>
          </a:xfrm>
          <a:prstGeom prst="rect">
            <a:avLst/>
          </a:prstGeom>
        </p:spPr>
      </p:pic>
    </p:spTree>
    <p:extLst>
      <p:ext uri="{BB962C8B-B14F-4D97-AF65-F5344CB8AC3E}">
        <p14:creationId xmlns:p14="http://schemas.microsoft.com/office/powerpoint/2010/main" val="3895011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355715F-640A-9383-CC8F-B0E01A9C84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39892F-0BAE-8374-29AC-F25C5D18C4BA}"/>
              </a:ext>
            </a:extLst>
          </p:cNvPr>
          <p:cNvSpPr txBox="1"/>
          <p:nvPr/>
        </p:nvSpPr>
        <p:spPr>
          <a:xfrm>
            <a:off x="3234696" y="97993"/>
            <a:ext cx="4897495" cy="769441"/>
          </a:xfrm>
          <a:prstGeom prst="rect">
            <a:avLst/>
          </a:prstGeom>
          <a:noFill/>
        </p:spPr>
        <p:txBody>
          <a:bodyPr wrap="none" rtlCol="0">
            <a:spAutoFit/>
          </a:bodyPr>
          <a:lstStyle/>
          <a:p>
            <a:pPr algn="ctr"/>
            <a:r>
              <a:rPr lang="en-US" sz="4400" b="1" dirty="0">
                <a:solidFill>
                  <a:schemeClr val="bg1"/>
                </a:solidFill>
              </a:rPr>
              <a:t>Clipchamp Editing</a:t>
            </a:r>
          </a:p>
        </p:txBody>
      </p:sp>
      <p:sp>
        <p:nvSpPr>
          <p:cNvPr id="4" name="TextBox 3">
            <a:extLst>
              <a:ext uri="{FF2B5EF4-FFF2-40B4-BE49-F238E27FC236}">
                <a16:creationId xmlns:a16="http://schemas.microsoft.com/office/drawing/2014/main" id="{81BBB464-63BE-001A-30EF-E5F2E61A987C}"/>
              </a:ext>
            </a:extLst>
          </p:cNvPr>
          <p:cNvSpPr txBox="1"/>
          <p:nvPr/>
        </p:nvSpPr>
        <p:spPr>
          <a:xfrm>
            <a:off x="248242" y="1037567"/>
            <a:ext cx="4601196" cy="646331"/>
          </a:xfrm>
          <a:prstGeom prst="rect">
            <a:avLst/>
          </a:prstGeom>
          <a:noFill/>
        </p:spPr>
        <p:txBody>
          <a:bodyPr wrap="none" rtlCol="0">
            <a:spAutoFit/>
          </a:bodyPr>
          <a:lstStyle/>
          <a:p>
            <a:r>
              <a:rPr lang="en-US" sz="3600" b="1" dirty="0">
                <a:solidFill>
                  <a:schemeClr val="bg1"/>
                </a:solidFill>
              </a:rPr>
              <a:t>Microsoft Clipchamp</a:t>
            </a:r>
          </a:p>
        </p:txBody>
      </p:sp>
      <p:sp>
        <p:nvSpPr>
          <p:cNvPr id="8" name="TextBox 7">
            <a:extLst>
              <a:ext uri="{FF2B5EF4-FFF2-40B4-BE49-F238E27FC236}">
                <a16:creationId xmlns:a16="http://schemas.microsoft.com/office/drawing/2014/main" id="{E7F12CF7-95B0-83C1-87D4-780FD96378A2}"/>
              </a:ext>
            </a:extLst>
          </p:cNvPr>
          <p:cNvSpPr txBox="1"/>
          <p:nvPr/>
        </p:nvSpPr>
        <p:spPr>
          <a:xfrm>
            <a:off x="607145" y="1696291"/>
            <a:ext cx="9483912" cy="2677656"/>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chemeClr val="bg1"/>
                </a:solidFill>
              </a:rPr>
              <a:t>Clip merging.</a:t>
            </a:r>
          </a:p>
          <a:p>
            <a:pPr marL="914400" lvl="1" indent="-457200">
              <a:buFont typeface="Arial" panose="020B0604020202020204" pitchFamily="34" charset="0"/>
              <a:buChar char="•"/>
            </a:pPr>
            <a:r>
              <a:rPr lang="en-US" sz="2800" dirty="0">
                <a:solidFill>
                  <a:schemeClr val="bg1"/>
                </a:solidFill>
              </a:rPr>
              <a:t>Fading between clips. Timing.</a:t>
            </a:r>
          </a:p>
          <a:p>
            <a:pPr marL="914400" lvl="1" indent="-457200">
              <a:buFont typeface="Arial" panose="020B0604020202020204" pitchFamily="34" charset="0"/>
              <a:buChar char="•"/>
            </a:pPr>
            <a:endParaRPr lang="en-US" sz="2800" dirty="0">
              <a:solidFill>
                <a:schemeClr val="bg1"/>
              </a:solidFill>
            </a:endParaRPr>
          </a:p>
          <a:p>
            <a:pPr marL="457200" indent="-457200">
              <a:buFont typeface="Arial" panose="020B0604020202020204" pitchFamily="34" charset="0"/>
              <a:buChar char="•"/>
            </a:pPr>
            <a:r>
              <a:rPr lang="en-US" sz="2800" dirty="0">
                <a:solidFill>
                  <a:schemeClr val="bg1"/>
                </a:solidFill>
              </a:rPr>
              <a:t>Adding Music.</a:t>
            </a:r>
          </a:p>
          <a:p>
            <a:endParaRPr lang="en-US" sz="2800" dirty="0">
              <a:solidFill>
                <a:schemeClr val="bg1"/>
              </a:solidFill>
            </a:endParaRPr>
          </a:p>
          <a:p>
            <a:pPr marL="457200" indent="-457200">
              <a:buFont typeface="Arial" panose="020B0604020202020204" pitchFamily="34" charset="0"/>
              <a:buChar char="•"/>
            </a:pPr>
            <a:r>
              <a:rPr lang="en-US" sz="2800" dirty="0">
                <a:solidFill>
                  <a:schemeClr val="bg1"/>
                </a:solidFill>
              </a:rPr>
              <a:t>Publishing</a:t>
            </a:r>
          </a:p>
        </p:txBody>
      </p:sp>
      <p:cxnSp>
        <p:nvCxnSpPr>
          <p:cNvPr id="3" name="Straight Connector 2">
            <a:extLst>
              <a:ext uri="{FF2B5EF4-FFF2-40B4-BE49-F238E27FC236}">
                <a16:creationId xmlns:a16="http://schemas.microsoft.com/office/drawing/2014/main" id="{D7CD408A-0DB5-9C75-4D3C-1F46A557BD2D}"/>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1B6AFC05-3413-3318-4FEC-31AC64C21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524" y="144775"/>
            <a:ext cx="922325" cy="678463"/>
          </a:xfrm>
          <a:prstGeom prst="rect">
            <a:avLst/>
          </a:prstGeom>
        </p:spPr>
      </p:pic>
    </p:spTree>
    <p:extLst>
      <p:ext uri="{BB962C8B-B14F-4D97-AF65-F5344CB8AC3E}">
        <p14:creationId xmlns:p14="http://schemas.microsoft.com/office/powerpoint/2010/main" val="2096879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7830A1D-3E72-87C7-C885-C93C2E70BC00}"/>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317A8C6-1B06-6714-2B53-2726692353E3}"/>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2" name="Picture 1">
            <a:extLst>
              <a:ext uri="{FF2B5EF4-FFF2-40B4-BE49-F238E27FC236}">
                <a16:creationId xmlns:a16="http://schemas.microsoft.com/office/drawing/2014/main" id="{6E178EE2-22D6-DBE5-5E52-9106E196CF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9489" y="1552855"/>
            <a:ext cx="6353021" cy="4673287"/>
          </a:xfrm>
          <a:prstGeom prst="rect">
            <a:avLst/>
          </a:prstGeom>
        </p:spPr>
      </p:pic>
    </p:spTree>
    <p:extLst>
      <p:ext uri="{BB962C8B-B14F-4D97-AF65-F5344CB8AC3E}">
        <p14:creationId xmlns:p14="http://schemas.microsoft.com/office/powerpoint/2010/main" val="3724664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9AE674F-208C-2C8A-204F-730F9CF2312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36BD6B-D750-EDA2-2DFA-343691BF2C86}"/>
              </a:ext>
            </a:extLst>
          </p:cNvPr>
          <p:cNvSpPr txBox="1"/>
          <p:nvPr/>
        </p:nvSpPr>
        <p:spPr>
          <a:xfrm>
            <a:off x="2990305" y="97993"/>
            <a:ext cx="5386283" cy="769441"/>
          </a:xfrm>
          <a:prstGeom prst="rect">
            <a:avLst/>
          </a:prstGeom>
          <a:noFill/>
        </p:spPr>
        <p:txBody>
          <a:bodyPr wrap="none" rtlCol="0">
            <a:spAutoFit/>
          </a:bodyPr>
          <a:lstStyle/>
          <a:p>
            <a:pPr algn="ctr"/>
            <a:r>
              <a:rPr lang="en-US" sz="4400" b="1" dirty="0">
                <a:solidFill>
                  <a:schemeClr val="bg1"/>
                </a:solidFill>
              </a:rPr>
              <a:t>DistroKid Publishing</a:t>
            </a:r>
          </a:p>
        </p:txBody>
      </p:sp>
      <p:sp>
        <p:nvSpPr>
          <p:cNvPr id="4" name="TextBox 3">
            <a:extLst>
              <a:ext uri="{FF2B5EF4-FFF2-40B4-BE49-F238E27FC236}">
                <a16:creationId xmlns:a16="http://schemas.microsoft.com/office/drawing/2014/main" id="{9A26F809-02D7-0A44-96AD-1854C38E0055}"/>
              </a:ext>
            </a:extLst>
          </p:cNvPr>
          <p:cNvSpPr txBox="1"/>
          <p:nvPr/>
        </p:nvSpPr>
        <p:spPr>
          <a:xfrm>
            <a:off x="248242" y="1037567"/>
            <a:ext cx="3976473" cy="646331"/>
          </a:xfrm>
          <a:prstGeom prst="rect">
            <a:avLst/>
          </a:prstGeom>
          <a:noFill/>
        </p:spPr>
        <p:txBody>
          <a:bodyPr wrap="none" rtlCol="0">
            <a:spAutoFit/>
          </a:bodyPr>
          <a:lstStyle/>
          <a:p>
            <a:r>
              <a:rPr lang="en-US" sz="3600" b="1" dirty="0">
                <a:solidFill>
                  <a:schemeClr val="bg1"/>
                </a:solidFill>
              </a:rPr>
              <a:t>DistroKid Purpose</a:t>
            </a:r>
          </a:p>
        </p:txBody>
      </p:sp>
      <p:pic>
        <p:nvPicPr>
          <p:cNvPr id="7" name="Picture 6" descr="A logo with lines and dots&#10;&#10;AI-generated content may be incorrect.">
            <a:extLst>
              <a:ext uri="{FF2B5EF4-FFF2-40B4-BE49-F238E27FC236}">
                <a16:creationId xmlns:a16="http://schemas.microsoft.com/office/drawing/2014/main" id="{E5F30DD8-6337-4CD7-FA01-FDE9E36FB5D9}"/>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11036300" y="90440"/>
            <a:ext cx="1054177" cy="775454"/>
          </a:xfrm>
          <a:prstGeom prst="rect">
            <a:avLst/>
          </a:prstGeom>
        </p:spPr>
      </p:pic>
      <p:sp>
        <p:nvSpPr>
          <p:cNvPr id="8" name="TextBox 7">
            <a:extLst>
              <a:ext uri="{FF2B5EF4-FFF2-40B4-BE49-F238E27FC236}">
                <a16:creationId xmlns:a16="http://schemas.microsoft.com/office/drawing/2014/main" id="{506B2319-8924-B9B1-9875-F6236685BE84}"/>
              </a:ext>
            </a:extLst>
          </p:cNvPr>
          <p:cNvSpPr txBox="1"/>
          <p:nvPr/>
        </p:nvSpPr>
        <p:spPr>
          <a:xfrm>
            <a:off x="607144" y="1696291"/>
            <a:ext cx="10060855" cy="3046988"/>
          </a:xfrm>
          <a:prstGeom prst="rect">
            <a:avLst/>
          </a:prstGeom>
          <a:noFill/>
        </p:spPr>
        <p:txBody>
          <a:bodyPr wrap="square" rtlCol="0">
            <a:spAutoFit/>
          </a:bodyPr>
          <a:lstStyle/>
          <a:p>
            <a:pPr marL="457200" indent="-457200">
              <a:buFont typeface="Arial" panose="020B0604020202020204" pitchFamily="34" charset="0"/>
              <a:buChar char="•"/>
            </a:pPr>
            <a:r>
              <a:rPr lang="en-US" sz="3200" dirty="0">
                <a:solidFill>
                  <a:schemeClr val="bg1"/>
                </a:solidFill>
              </a:rPr>
              <a:t>After you’ve created either music or videos, DistroKid can publish across several different platforms.</a:t>
            </a:r>
          </a:p>
          <a:p>
            <a:pPr marL="914400" lvl="1" indent="-457200">
              <a:buFont typeface="Arial" panose="020B0604020202020204" pitchFamily="34" charset="0"/>
              <a:buChar char="•"/>
            </a:pPr>
            <a:endParaRPr lang="en-US" sz="3200" dirty="0">
              <a:solidFill>
                <a:schemeClr val="bg1"/>
              </a:solidFill>
            </a:endParaRPr>
          </a:p>
          <a:p>
            <a:pPr marL="457200" indent="-457200">
              <a:buFont typeface="Arial" panose="020B0604020202020204" pitchFamily="34" charset="0"/>
              <a:buChar char="•"/>
            </a:pPr>
            <a:r>
              <a:rPr lang="en-US" sz="3200" dirty="0">
                <a:solidFill>
                  <a:schemeClr val="bg1"/>
                </a:solidFill>
              </a:rPr>
              <a:t>Cost.</a:t>
            </a:r>
          </a:p>
          <a:p>
            <a:endParaRPr lang="en-US" sz="3200" dirty="0">
              <a:solidFill>
                <a:schemeClr val="bg1"/>
              </a:solidFill>
            </a:endParaRPr>
          </a:p>
          <a:p>
            <a:pPr marL="457200" indent="-457200">
              <a:buFont typeface="Arial" panose="020B0604020202020204" pitchFamily="34" charset="0"/>
              <a:buChar char="•"/>
            </a:pPr>
            <a:r>
              <a:rPr lang="en-US" sz="3200" dirty="0">
                <a:solidFill>
                  <a:schemeClr val="bg1"/>
                </a:solidFill>
              </a:rPr>
              <a:t>How to examples.</a:t>
            </a:r>
          </a:p>
        </p:txBody>
      </p:sp>
      <p:cxnSp>
        <p:nvCxnSpPr>
          <p:cNvPr id="3" name="Straight Connector 2">
            <a:extLst>
              <a:ext uri="{FF2B5EF4-FFF2-40B4-BE49-F238E27FC236}">
                <a16:creationId xmlns:a16="http://schemas.microsoft.com/office/drawing/2014/main" id="{6FB04262-80DA-0908-0875-395611C4AF43}"/>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76955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D77FD47-1AD5-B5F2-7118-50800C89FDCB}"/>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B734BFB-F64A-A2AD-2F3E-12145DCA3717}"/>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2" name="Picture 1">
            <a:extLst>
              <a:ext uri="{FF2B5EF4-FFF2-40B4-BE49-F238E27FC236}">
                <a16:creationId xmlns:a16="http://schemas.microsoft.com/office/drawing/2014/main" id="{55D52316-98E7-D1BB-D642-F8F4CD7316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9489" y="1552855"/>
            <a:ext cx="6353021" cy="4673287"/>
          </a:xfrm>
          <a:prstGeom prst="rect">
            <a:avLst/>
          </a:prstGeom>
        </p:spPr>
      </p:pic>
    </p:spTree>
    <p:extLst>
      <p:ext uri="{BB962C8B-B14F-4D97-AF65-F5344CB8AC3E}">
        <p14:creationId xmlns:p14="http://schemas.microsoft.com/office/powerpoint/2010/main" val="37838948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F366F63-2252-864F-AAD7-93E15206DAE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15766D-6466-A894-A7AC-63C1CF824FD6}"/>
              </a:ext>
            </a:extLst>
          </p:cNvPr>
          <p:cNvSpPr txBox="1"/>
          <p:nvPr/>
        </p:nvSpPr>
        <p:spPr>
          <a:xfrm>
            <a:off x="1621123" y="97993"/>
            <a:ext cx="8124660" cy="769441"/>
          </a:xfrm>
          <a:prstGeom prst="rect">
            <a:avLst/>
          </a:prstGeom>
          <a:noFill/>
        </p:spPr>
        <p:txBody>
          <a:bodyPr wrap="none" rtlCol="0">
            <a:spAutoFit/>
          </a:bodyPr>
          <a:lstStyle/>
          <a:p>
            <a:pPr algn="ctr"/>
            <a:r>
              <a:rPr lang="en-US" sz="4400" b="1" dirty="0">
                <a:solidFill>
                  <a:schemeClr val="bg1"/>
                </a:solidFill>
              </a:rPr>
              <a:t>NDA Damage, Ethics, and Laws</a:t>
            </a:r>
          </a:p>
        </p:txBody>
      </p:sp>
      <p:sp>
        <p:nvSpPr>
          <p:cNvPr id="4" name="TextBox 3">
            <a:extLst>
              <a:ext uri="{FF2B5EF4-FFF2-40B4-BE49-F238E27FC236}">
                <a16:creationId xmlns:a16="http://schemas.microsoft.com/office/drawing/2014/main" id="{F51BA1C9-0C7F-2A8A-F3E5-303D5CE01337}"/>
              </a:ext>
            </a:extLst>
          </p:cNvPr>
          <p:cNvSpPr txBox="1"/>
          <p:nvPr/>
        </p:nvSpPr>
        <p:spPr>
          <a:xfrm>
            <a:off x="248242" y="1037567"/>
            <a:ext cx="6117187" cy="646331"/>
          </a:xfrm>
          <a:prstGeom prst="rect">
            <a:avLst/>
          </a:prstGeom>
          <a:noFill/>
        </p:spPr>
        <p:txBody>
          <a:bodyPr wrap="none" rtlCol="0">
            <a:spAutoFit/>
          </a:bodyPr>
          <a:lstStyle/>
          <a:p>
            <a:r>
              <a:rPr lang="en-US" sz="3600" b="1" dirty="0">
                <a:solidFill>
                  <a:schemeClr val="bg1"/>
                </a:solidFill>
              </a:rPr>
              <a:t>Non-Disclosure Agreements</a:t>
            </a:r>
          </a:p>
        </p:txBody>
      </p:sp>
      <p:sp>
        <p:nvSpPr>
          <p:cNvPr id="8" name="TextBox 7">
            <a:extLst>
              <a:ext uri="{FF2B5EF4-FFF2-40B4-BE49-F238E27FC236}">
                <a16:creationId xmlns:a16="http://schemas.microsoft.com/office/drawing/2014/main" id="{E9F398B5-7AF1-0649-F94E-834F04BA217F}"/>
              </a:ext>
            </a:extLst>
          </p:cNvPr>
          <p:cNvSpPr txBox="1"/>
          <p:nvPr/>
        </p:nvSpPr>
        <p:spPr>
          <a:xfrm>
            <a:off x="607144" y="1696291"/>
            <a:ext cx="10060855" cy="5016758"/>
          </a:xfrm>
          <a:prstGeom prst="rect">
            <a:avLst/>
          </a:prstGeom>
          <a:noFill/>
        </p:spPr>
        <p:txBody>
          <a:bodyPr wrap="square" rtlCol="0">
            <a:spAutoFit/>
          </a:bodyPr>
          <a:lstStyle/>
          <a:p>
            <a:pPr marL="457200" indent="-457200">
              <a:buFont typeface="Arial" panose="020B0604020202020204" pitchFamily="34" charset="0"/>
              <a:buChar char="•"/>
            </a:pPr>
            <a:r>
              <a:rPr lang="en-US" sz="3200" dirty="0">
                <a:solidFill>
                  <a:schemeClr val="bg1"/>
                </a:solidFill>
              </a:rPr>
              <a:t>Using NDA coding and documentation on a platform’s AI engine.</a:t>
            </a:r>
          </a:p>
          <a:p>
            <a:endParaRPr lang="en-US" sz="3200" dirty="0">
              <a:solidFill>
                <a:schemeClr val="bg1"/>
              </a:solidFill>
            </a:endParaRPr>
          </a:p>
          <a:p>
            <a:pPr marL="914400" lvl="1" indent="-457200">
              <a:buFont typeface="Arial" panose="020B0604020202020204" pitchFamily="34" charset="0"/>
              <a:buChar char="•"/>
            </a:pPr>
            <a:r>
              <a:rPr lang="en-US" sz="3200" dirty="0">
                <a:solidFill>
                  <a:schemeClr val="bg1"/>
                </a:solidFill>
              </a:rPr>
              <a:t>Dangerous and easily hackable as LLM’s evolve.</a:t>
            </a:r>
          </a:p>
          <a:p>
            <a:pPr lvl="1"/>
            <a:endParaRPr lang="en-US" sz="3200" dirty="0">
              <a:solidFill>
                <a:schemeClr val="bg1"/>
              </a:solidFill>
            </a:endParaRPr>
          </a:p>
          <a:p>
            <a:pPr marL="914400" lvl="1" indent="-457200">
              <a:buFont typeface="Arial" panose="020B0604020202020204" pitchFamily="34" charset="0"/>
              <a:buChar char="•"/>
            </a:pPr>
            <a:r>
              <a:rPr lang="en-US" sz="3200" dirty="0">
                <a:solidFill>
                  <a:schemeClr val="bg1"/>
                </a:solidFill>
              </a:rPr>
              <a:t>Researching private and company information in a public, non-encapsulated AI environment.</a:t>
            </a:r>
          </a:p>
          <a:p>
            <a:pPr lvl="1"/>
            <a:endParaRPr lang="en-US" sz="3200" dirty="0">
              <a:solidFill>
                <a:schemeClr val="bg1"/>
              </a:solidFill>
            </a:endParaRPr>
          </a:p>
          <a:p>
            <a:pPr marL="914400" lvl="1" indent="-457200">
              <a:buFont typeface="Arial" panose="020B0604020202020204" pitchFamily="34" charset="0"/>
              <a:buChar char="•"/>
            </a:pPr>
            <a:r>
              <a:rPr lang="en-US" sz="3200" dirty="0">
                <a:solidFill>
                  <a:schemeClr val="bg1"/>
                </a:solidFill>
              </a:rPr>
              <a:t>Educating what to ask and what not to ask is essential, needed, and required.</a:t>
            </a:r>
          </a:p>
        </p:txBody>
      </p:sp>
      <p:cxnSp>
        <p:nvCxnSpPr>
          <p:cNvPr id="3" name="Straight Connector 2">
            <a:extLst>
              <a:ext uri="{FF2B5EF4-FFF2-40B4-BE49-F238E27FC236}">
                <a16:creationId xmlns:a16="http://schemas.microsoft.com/office/drawing/2014/main" id="{F66DEB40-F733-5A35-0AD6-E12FBF968600}"/>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008E3BDF-D640-8994-018A-9CDCB77F29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524" y="144775"/>
            <a:ext cx="922325" cy="678463"/>
          </a:xfrm>
          <a:prstGeom prst="rect">
            <a:avLst/>
          </a:prstGeom>
        </p:spPr>
      </p:pic>
    </p:spTree>
    <p:extLst>
      <p:ext uri="{BB962C8B-B14F-4D97-AF65-F5344CB8AC3E}">
        <p14:creationId xmlns:p14="http://schemas.microsoft.com/office/powerpoint/2010/main" val="30791093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A4DE619-0F7F-437D-444A-61A1902076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CBD835-7315-1AEF-1993-89D93F01EB54}"/>
              </a:ext>
            </a:extLst>
          </p:cNvPr>
          <p:cNvSpPr txBox="1"/>
          <p:nvPr/>
        </p:nvSpPr>
        <p:spPr>
          <a:xfrm>
            <a:off x="1621123" y="97993"/>
            <a:ext cx="8124660" cy="769441"/>
          </a:xfrm>
          <a:prstGeom prst="rect">
            <a:avLst/>
          </a:prstGeom>
          <a:noFill/>
        </p:spPr>
        <p:txBody>
          <a:bodyPr wrap="none" rtlCol="0">
            <a:spAutoFit/>
          </a:bodyPr>
          <a:lstStyle/>
          <a:p>
            <a:pPr algn="ctr"/>
            <a:r>
              <a:rPr lang="en-US" sz="4400" b="1" dirty="0">
                <a:solidFill>
                  <a:schemeClr val="bg1"/>
                </a:solidFill>
              </a:rPr>
              <a:t>NDA Damage, Ethics, and Laws</a:t>
            </a:r>
          </a:p>
        </p:txBody>
      </p:sp>
      <p:sp>
        <p:nvSpPr>
          <p:cNvPr id="4" name="TextBox 3">
            <a:extLst>
              <a:ext uri="{FF2B5EF4-FFF2-40B4-BE49-F238E27FC236}">
                <a16:creationId xmlns:a16="http://schemas.microsoft.com/office/drawing/2014/main" id="{CB9FFAC1-07B0-A082-A27E-8F64B5A9BE6F}"/>
              </a:ext>
            </a:extLst>
          </p:cNvPr>
          <p:cNvSpPr txBox="1"/>
          <p:nvPr/>
        </p:nvSpPr>
        <p:spPr>
          <a:xfrm>
            <a:off x="248242" y="1037567"/>
            <a:ext cx="3907608" cy="646331"/>
          </a:xfrm>
          <a:prstGeom prst="rect">
            <a:avLst/>
          </a:prstGeom>
          <a:noFill/>
        </p:spPr>
        <p:txBody>
          <a:bodyPr wrap="none" rtlCol="0">
            <a:spAutoFit/>
          </a:bodyPr>
          <a:lstStyle/>
          <a:p>
            <a:r>
              <a:rPr lang="en-US" sz="3600" b="1" dirty="0">
                <a:solidFill>
                  <a:schemeClr val="bg1"/>
                </a:solidFill>
              </a:rPr>
              <a:t>Ethics In AI Usage</a:t>
            </a:r>
          </a:p>
        </p:txBody>
      </p:sp>
      <p:sp>
        <p:nvSpPr>
          <p:cNvPr id="8" name="TextBox 7">
            <a:extLst>
              <a:ext uri="{FF2B5EF4-FFF2-40B4-BE49-F238E27FC236}">
                <a16:creationId xmlns:a16="http://schemas.microsoft.com/office/drawing/2014/main" id="{02FDE423-7D8E-E06F-A35D-6E39C067AABB}"/>
              </a:ext>
            </a:extLst>
          </p:cNvPr>
          <p:cNvSpPr txBox="1"/>
          <p:nvPr/>
        </p:nvSpPr>
        <p:spPr>
          <a:xfrm>
            <a:off x="607144" y="2055519"/>
            <a:ext cx="10060855" cy="4401205"/>
          </a:xfrm>
          <a:prstGeom prst="rect">
            <a:avLst/>
          </a:prstGeom>
          <a:noFill/>
        </p:spPr>
        <p:txBody>
          <a:bodyPr wrap="square" rtlCol="0">
            <a:spAutoFit/>
          </a:bodyPr>
          <a:lstStyle/>
          <a:p>
            <a:pPr marL="457200" indent="-457200">
              <a:buFont typeface="Arial" panose="020B0604020202020204" pitchFamily="34" charset="0"/>
              <a:buChar char="•"/>
            </a:pPr>
            <a:r>
              <a:rPr lang="en-US" sz="2000" dirty="0">
                <a:solidFill>
                  <a:schemeClr val="bg1"/>
                </a:solidFill>
              </a:rPr>
              <a:t>Conflicts In Art, Music, Videos and Schools</a:t>
            </a:r>
          </a:p>
          <a:p>
            <a:endParaRPr lang="en-US" sz="2000" dirty="0">
              <a:solidFill>
                <a:schemeClr val="bg1"/>
              </a:solidFill>
            </a:endParaRPr>
          </a:p>
          <a:p>
            <a:pPr marL="914400" lvl="1" indent="-457200">
              <a:buFont typeface="Arial" panose="020B0604020202020204" pitchFamily="34" charset="0"/>
              <a:buChar char="•"/>
            </a:pPr>
            <a:r>
              <a:rPr lang="en-US" sz="2000" dirty="0">
                <a:solidFill>
                  <a:schemeClr val="bg1"/>
                </a:solidFill>
              </a:rPr>
              <a:t>Artist’s and musician’s work being used in CNN (Convolutional Neural Networks) models to use physical work to create AI similarities.</a:t>
            </a:r>
          </a:p>
          <a:p>
            <a:pPr lvl="1"/>
            <a:endParaRPr lang="en-US" sz="2000" dirty="0">
              <a:solidFill>
                <a:schemeClr val="bg1"/>
              </a:solidFill>
            </a:endParaRPr>
          </a:p>
          <a:p>
            <a:pPr marL="914400" lvl="1" indent="-457200">
              <a:buFont typeface="Arial" panose="020B0604020202020204" pitchFamily="34" charset="0"/>
              <a:buChar char="•"/>
            </a:pPr>
            <a:r>
              <a:rPr lang="en-US" sz="2000" dirty="0">
                <a:solidFill>
                  <a:schemeClr val="bg1"/>
                </a:solidFill>
              </a:rPr>
              <a:t>Is using AI to create your own work ethical if you use the CNN’s made from other people’s work?</a:t>
            </a:r>
          </a:p>
          <a:p>
            <a:pPr marL="914400" lvl="1" indent="-457200">
              <a:buFont typeface="Arial" panose="020B0604020202020204" pitchFamily="34" charset="0"/>
              <a:buChar char="•"/>
            </a:pPr>
            <a:endParaRPr lang="en-US" sz="2000" dirty="0">
              <a:solidFill>
                <a:schemeClr val="bg1"/>
              </a:solidFill>
            </a:endParaRPr>
          </a:p>
          <a:p>
            <a:pPr marL="914400" lvl="1" indent="-457200">
              <a:buFont typeface="Arial" panose="020B0604020202020204" pitchFamily="34" charset="0"/>
              <a:buChar char="•"/>
            </a:pPr>
            <a:r>
              <a:rPr lang="en-US" sz="2000" dirty="0">
                <a:solidFill>
                  <a:schemeClr val="bg1"/>
                </a:solidFill>
              </a:rPr>
              <a:t>School dishonesty is obvious for long term AI users who train forgery algorithms to detect it.</a:t>
            </a:r>
          </a:p>
          <a:p>
            <a:pPr marL="914400" lvl="1" indent="-457200">
              <a:buFont typeface="Arial" panose="020B0604020202020204" pitchFamily="34" charset="0"/>
              <a:buChar char="•"/>
            </a:pPr>
            <a:endParaRPr lang="en-US" sz="2000" dirty="0">
              <a:solidFill>
                <a:schemeClr val="bg1"/>
              </a:solidFill>
            </a:endParaRPr>
          </a:p>
          <a:p>
            <a:pPr marL="1371600" lvl="2" indent="-457200">
              <a:buFont typeface="Arial" panose="020B0604020202020204" pitchFamily="34" charset="0"/>
              <a:buChar char="•"/>
            </a:pPr>
            <a:r>
              <a:rPr lang="en-US" sz="2000" dirty="0">
                <a:solidFill>
                  <a:schemeClr val="bg1"/>
                </a:solidFill>
              </a:rPr>
              <a:t>When students use AI for cheating, is AI a modern type of calculator, or are students shortcutting around fundamentals they should know? Your opinions and suggestions matter.</a:t>
            </a:r>
          </a:p>
        </p:txBody>
      </p:sp>
      <p:cxnSp>
        <p:nvCxnSpPr>
          <p:cNvPr id="3" name="Straight Connector 2">
            <a:extLst>
              <a:ext uri="{FF2B5EF4-FFF2-40B4-BE49-F238E27FC236}">
                <a16:creationId xmlns:a16="http://schemas.microsoft.com/office/drawing/2014/main" id="{356AED0D-071C-ED70-16F3-04F7FB8E48AA}"/>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4A3EAC5A-2F22-511E-D645-73B28873CC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524" y="144775"/>
            <a:ext cx="922325" cy="678463"/>
          </a:xfrm>
          <a:prstGeom prst="rect">
            <a:avLst/>
          </a:prstGeom>
        </p:spPr>
      </p:pic>
    </p:spTree>
    <p:extLst>
      <p:ext uri="{BB962C8B-B14F-4D97-AF65-F5344CB8AC3E}">
        <p14:creationId xmlns:p14="http://schemas.microsoft.com/office/powerpoint/2010/main" val="24531859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1C43F8B-17FA-CB66-C9FA-90AFD906504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31D3CB-9553-8F09-8AE3-F563D747C2A2}"/>
              </a:ext>
            </a:extLst>
          </p:cNvPr>
          <p:cNvSpPr txBox="1"/>
          <p:nvPr/>
        </p:nvSpPr>
        <p:spPr>
          <a:xfrm>
            <a:off x="1621123" y="97993"/>
            <a:ext cx="8124660" cy="769441"/>
          </a:xfrm>
          <a:prstGeom prst="rect">
            <a:avLst/>
          </a:prstGeom>
          <a:noFill/>
        </p:spPr>
        <p:txBody>
          <a:bodyPr wrap="none" rtlCol="0">
            <a:spAutoFit/>
          </a:bodyPr>
          <a:lstStyle/>
          <a:p>
            <a:pPr algn="ctr"/>
            <a:r>
              <a:rPr lang="en-US" sz="4400" b="1" dirty="0">
                <a:solidFill>
                  <a:schemeClr val="bg1"/>
                </a:solidFill>
              </a:rPr>
              <a:t>NDA Damage, Ethics, and Laws</a:t>
            </a:r>
          </a:p>
        </p:txBody>
      </p:sp>
      <p:sp>
        <p:nvSpPr>
          <p:cNvPr id="4" name="TextBox 3">
            <a:extLst>
              <a:ext uri="{FF2B5EF4-FFF2-40B4-BE49-F238E27FC236}">
                <a16:creationId xmlns:a16="http://schemas.microsoft.com/office/drawing/2014/main" id="{1044BA7A-9E4C-82A8-4BF1-5CB74C4D9CB5}"/>
              </a:ext>
            </a:extLst>
          </p:cNvPr>
          <p:cNvSpPr txBox="1"/>
          <p:nvPr/>
        </p:nvSpPr>
        <p:spPr>
          <a:xfrm>
            <a:off x="248242" y="1037567"/>
            <a:ext cx="5847435" cy="646331"/>
          </a:xfrm>
          <a:prstGeom prst="rect">
            <a:avLst/>
          </a:prstGeom>
          <a:noFill/>
        </p:spPr>
        <p:txBody>
          <a:bodyPr wrap="none" rtlCol="0">
            <a:spAutoFit/>
          </a:bodyPr>
          <a:lstStyle/>
          <a:p>
            <a:r>
              <a:rPr lang="en-US" sz="3600" b="1" dirty="0">
                <a:solidFill>
                  <a:schemeClr val="bg1"/>
                </a:solidFill>
              </a:rPr>
              <a:t>AI Laws and Testing In Utah</a:t>
            </a:r>
          </a:p>
        </p:txBody>
      </p:sp>
      <p:sp>
        <p:nvSpPr>
          <p:cNvPr id="8" name="TextBox 7">
            <a:extLst>
              <a:ext uri="{FF2B5EF4-FFF2-40B4-BE49-F238E27FC236}">
                <a16:creationId xmlns:a16="http://schemas.microsoft.com/office/drawing/2014/main" id="{C634E539-5491-8B68-3023-C85E0DE00F7C}"/>
              </a:ext>
            </a:extLst>
          </p:cNvPr>
          <p:cNvSpPr txBox="1"/>
          <p:nvPr/>
        </p:nvSpPr>
        <p:spPr>
          <a:xfrm>
            <a:off x="607144" y="2055519"/>
            <a:ext cx="10060855" cy="3785652"/>
          </a:xfrm>
          <a:prstGeom prst="rect">
            <a:avLst/>
          </a:prstGeom>
          <a:noFill/>
        </p:spPr>
        <p:txBody>
          <a:bodyPr wrap="square" rtlCol="0">
            <a:spAutoFit/>
          </a:bodyPr>
          <a:lstStyle/>
          <a:p>
            <a:pPr marL="457200" indent="-457200">
              <a:buFont typeface="Arial" panose="020B0604020202020204" pitchFamily="34" charset="0"/>
              <a:buChar char="•"/>
            </a:pPr>
            <a:r>
              <a:rPr lang="en-US" sz="2000" dirty="0">
                <a:solidFill>
                  <a:schemeClr val="bg1"/>
                </a:solidFill>
              </a:rPr>
              <a:t>Quote the </a:t>
            </a:r>
            <a:r>
              <a:rPr lang="en-US" sz="2000" dirty="0">
                <a:solidFill>
                  <a:schemeClr val="bg1"/>
                </a:solidFill>
                <a:hlinkClick r:id="rId2"/>
              </a:rPr>
              <a:t>innovate (us)</a:t>
            </a:r>
            <a:r>
              <a:rPr lang="en-US" sz="2000" dirty="0">
                <a:solidFill>
                  <a:schemeClr val="bg1"/>
                </a:solidFill>
              </a:rPr>
              <a:t> article.</a:t>
            </a:r>
          </a:p>
          <a:p>
            <a:pPr marL="457200" indent="-457200">
              <a:buFont typeface="Arial" panose="020B0604020202020204" pitchFamily="34" charset="0"/>
              <a:buChar char="•"/>
            </a:pPr>
            <a:endParaRPr lang="en-US" sz="2000" dirty="0">
              <a:solidFill>
                <a:schemeClr val="bg1"/>
              </a:solidFill>
            </a:endParaRPr>
          </a:p>
          <a:p>
            <a:pPr marL="914400" lvl="1" indent="-457200">
              <a:buFont typeface="Arial" panose="020B0604020202020204" pitchFamily="34" charset="0"/>
              <a:buChar char="•"/>
            </a:pPr>
            <a:r>
              <a:rPr lang="en-US" sz="2000" dirty="0">
                <a:solidFill>
                  <a:schemeClr val="bg1"/>
                </a:solidFill>
              </a:rPr>
              <a:t>Google Gemini was chosen in an encapsulated environment with 257 testers in 2024.</a:t>
            </a:r>
          </a:p>
          <a:p>
            <a:pPr lvl="1"/>
            <a:endParaRPr lang="en-US" sz="2000" dirty="0">
              <a:solidFill>
                <a:schemeClr val="bg1"/>
              </a:solidFill>
            </a:endParaRPr>
          </a:p>
          <a:p>
            <a:pPr marL="914400" lvl="1" indent="-457200">
              <a:buFont typeface="Arial" panose="020B0604020202020204" pitchFamily="34" charset="0"/>
              <a:buChar char="•"/>
            </a:pPr>
            <a:r>
              <a:rPr lang="en-US" sz="2000" dirty="0">
                <a:solidFill>
                  <a:schemeClr val="bg1"/>
                </a:solidFill>
              </a:rPr>
              <a:t>Utah DTS is a stakeholder division who develops software for BLS and DOL.</a:t>
            </a:r>
          </a:p>
          <a:p>
            <a:pPr marL="914400" lvl="1" indent="-457200">
              <a:buFont typeface="Arial" panose="020B0604020202020204" pitchFamily="34" charset="0"/>
              <a:buChar char="•"/>
            </a:pPr>
            <a:endParaRPr lang="en-US" sz="2000" dirty="0">
              <a:solidFill>
                <a:schemeClr val="bg1"/>
              </a:solidFill>
            </a:endParaRPr>
          </a:p>
          <a:p>
            <a:pPr marL="914400" lvl="1" indent="-457200">
              <a:buFont typeface="Arial" panose="020B0604020202020204" pitchFamily="34" charset="0"/>
              <a:buChar char="•"/>
            </a:pPr>
            <a:r>
              <a:rPr lang="en-US" sz="2000" dirty="0">
                <a:solidFill>
                  <a:schemeClr val="bg1"/>
                </a:solidFill>
              </a:rPr>
              <a:t>Why and how is it privately encapsulated with government and corporations?</a:t>
            </a:r>
          </a:p>
          <a:p>
            <a:pPr lvl="1"/>
            <a:endParaRPr lang="en-US" sz="2000" dirty="0">
              <a:solidFill>
                <a:schemeClr val="bg1"/>
              </a:solidFill>
            </a:endParaRPr>
          </a:p>
          <a:p>
            <a:pPr marL="914400" lvl="1" indent="-457200">
              <a:buFont typeface="Arial" panose="020B0604020202020204" pitchFamily="34" charset="0"/>
              <a:buChar char="•"/>
            </a:pPr>
            <a:r>
              <a:rPr lang="en-US" sz="2000" dirty="0">
                <a:solidFill>
                  <a:schemeClr val="bg1"/>
                </a:solidFill>
              </a:rPr>
              <a:t>How are the LLM and CNN fed data? Guess.</a:t>
            </a:r>
          </a:p>
          <a:p>
            <a:pPr marL="914400" lvl="1" indent="-457200">
              <a:buFont typeface="Arial" panose="020B0604020202020204" pitchFamily="34" charset="0"/>
              <a:buChar char="•"/>
            </a:pPr>
            <a:endParaRPr lang="en-US" sz="2000" dirty="0">
              <a:solidFill>
                <a:schemeClr val="bg1"/>
              </a:solidFill>
            </a:endParaRPr>
          </a:p>
          <a:p>
            <a:pPr marL="914400" lvl="1" indent="-457200">
              <a:buFont typeface="Arial" panose="020B0604020202020204" pitchFamily="34" charset="0"/>
              <a:buChar char="•"/>
            </a:pPr>
            <a:r>
              <a:rPr lang="en-US" sz="2000" dirty="0">
                <a:solidFill>
                  <a:schemeClr val="bg1"/>
                </a:solidFill>
              </a:rPr>
              <a:t>How is the data collected and recycled through these private models?</a:t>
            </a:r>
          </a:p>
        </p:txBody>
      </p:sp>
      <p:cxnSp>
        <p:nvCxnSpPr>
          <p:cNvPr id="3" name="Straight Connector 2">
            <a:extLst>
              <a:ext uri="{FF2B5EF4-FFF2-40B4-BE49-F238E27FC236}">
                <a16:creationId xmlns:a16="http://schemas.microsoft.com/office/drawing/2014/main" id="{6144961E-07F9-53BE-C69A-076DC458BD6D}"/>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6B1FAAD0-90E8-A07D-A224-546344A94D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524" y="144775"/>
            <a:ext cx="922325" cy="678463"/>
          </a:xfrm>
          <a:prstGeom prst="rect">
            <a:avLst/>
          </a:prstGeom>
        </p:spPr>
      </p:pic>
    </p:spTree>
    <p:extLst>
      <p:ext uri="{BB962C8B-B14F-4D97-AF65-F5344CB8AC3E}">
        <p14:creationId xmlns:p14="http://schemas.microsoft.com/office/powerpoint/2010/main" val="38704408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CD02EBD-920B-91A1-4557-437027F6B0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BF2FA1D-AB2D-9044-A62D-BFF16248804C}"/>
              </a:ext>
            </a:extLst>
          </p:cNvPr>
          <p:cNvSpPr txBox="1"/>
          <p:nvPr/>
        </p:nvSpPr>
        <p:spPr>
          <a:xfrm>
            <a:off x="4740723" y="182078"/>
            <a:ext cx="2710550" cy="707886"/>
          </a:xfrm>
          <a:prstGeom prst="rect">
            <a:avLst/>
          </a:prstGeom>
          <a:noFill/>
        </p:spPr>
        <p:txBody>
          <a:bodyPr wrap="none" rtlCol="0">
            <a:spAutoFit/>
          </a:bodyPr>
          <a:lstStyle/>
          <a:p>
            <a:pPr algn="ctr"/>
            <a:r>
              <a:rPr lang="en-US" sz="4000" dirty="0">
                <a:solidFill>
                  <a:schemeClr val="bg1"/>
                </a:solidFill>
              </a:rPr>
              <a:t>Questions?</a:t>
            </a:r>
          </a:p>
        </p:txBody>
      </p:sp>
      <p:cxnSp>
        <p:nvCxnSpPr>
          <p:cNvPr id="3" name="Straight Connector 2">
            <a:extLst>
              <a:ext uri="{FF2B5EF4-FFF2-40B4-BE49-F238E27FC236}">
                <a16:creationId xmlns:a16="http://schemas.microsoft.com/office/drawing/2014/main" id="{265E6B84-5C45-9955-0E60-F07D8AB82B7E}"/>
              </a:ext>
            </a:extLst>
          </p:cNvPr>
          <p:cNvCxnSpPr/>
          <p:nvPr/>
        </p:nvCxnSpPr>
        <p:spPr>
          <a:xfrm>
            <a:off x="0" y="952500"/>
            <a:ext cx="12192000" cy="0"/>
          </a:xfrm>
          <a:prstGeom prst="line">
            <a:avLst/>
          </a:prstGeom>
          <a:ln>
            <a:solidFill>
              <a:schemeClr val="bg1">
                <a:alpha val="25000"/>
              </a:schemeClr>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DE6574A-84A3-0B42-64CF-D901F21FC209}"/>
              </a:ext>
            </a:extLst>
          </p:cNvPr>
          <p:cNvSpPr txBox="1"/>
          <p:nvPr/>
        </p:nvSpPr>
        <p:spPr>
          <a:xfrm>
            <a:off x="3861731" y="5826848"/>
            <a:ext cx="4468531" cy="861774"/>
          </a:xfrm>
          <a:prstGeom prst="rect">
            <a:avLst/>
          </a:prstGeom>
          <a:noFill/>
        </p:spPr>
        <p:txBody>
          <a:bodyPr wrap="none" rtlCol="0">
            <a:spAutoFit/>
          </a:bodyPr>
          <a:lstStyle/>
          <a:p>
            <a:pPr algn="ctr"/>
            <a:r>
              <a:rPr lang="en-US" sz="2400" b="1" dirty="0">
                <a:solidFill>
                  <a:schemeClr val="bg1"/>
                </a:solidFill>
              </a:rPr>
              <a:t>Bradford Communications LLC</a:t>
            </a:r>
          </a:p>
          <a:p>
            <a:pPr algn="ctr"/>
            <a:endParaRPr lang="en-US" sz="800" dirty="0">
              <a:solidFill>
                <a:schemeClr val="bg1"/>
              </a:solidFill>
            </a:endParaRPr>
          </a:p>
          <a:p>
            <a:pPr algn="ctr"/>
            <a:r>
              <a:rPr lang="en-US" dirty="0">
                <a:solidFill>
                  <a:schemeClr val="bg1"/>
                </a:solidFill>
              </a:rPr>
              <a:t>Rick Bradford</a:t>
            </a:r>
          </a:p>
        </p:txBody>
      </p:sp>
      <p:pic>
        <p:nvPicPr>
          <p:cNvPr id="4" name="Picture 3">
            <a:extLst>
              <a:ext uri="{FF2B5EF4-FFF2-40B4-BE49-F238E27FC236}">
                <a16:creationId xmlns:a16="http://schemas.microsoft.com/office/drawing/2014/main" id="{895C49D5-8286-7360-CE5A-08BED6CC67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9485" y="1092356"/>
            <a:ext cx="6353021" cy="4673287"/>
          </a:xfrm>
          <a:prstGeom prst="rect">
            <a:avLst/>
          </a:prstGeom>
        </p:spPr>
      </p:pic>
    </p:spTree>
    <p:extLst>
      <p:ext uri="{BB962C8B-B14F-4D97-AF65-F5344CB8AC3E}">
        <p14:creationId xmlns:p14="http://schemas.microsoft.com/office/powerpoint/2010/main" val="35114156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299FEEA-8214-6F27-6705-A78B426804E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2881DF2-2F82-1674-F26B-B50D4767ED6E}"/>
              </a:ext>
            </a:extLst>
          </p:cNvPr>
          <p:cNvSpPr txBox="1"/>
          <p:nvPr/>
        </p:nvSpPr>
        <p:spPr>
          <a:xfrm>
            <a:off x="631382" y="188048"/>
            <a:ext cx="11443582" cy="707886"/>
          </a:xfrm>
          <a:prstGeom prst="rect">
            <a:avLst/>
          </a:prstGeom>
          <a:noFill/>
        </p:spPr>
        <p:txBody>
          <a:bodyPr wrap="none" rtlCol="0">
            <a:spAutoFit/>
          </a:bodyPr>
          <a:lstStyle/>
          <a:p>
            <a:pPr algn="ctr"/>
            <a:r>
              <a:rPr lang="en-US" sz="3200" b="1" dirty="0">
                <a:solidFill>
                  <a:schemeClr val="bg1"/>
                </a:solidFill>
              </a:rPr>
              <a:t>Charitable Donations Accepted to Grow My Business Further</a:t>
            </a:r>
          </a:p>
          <a:p>
            <a:pPr algn="ctr"/>
            <a:endParaRPr lang="en-US" sz="800" dirty="0">
              <a:solidFill>
                <a:schemeClr val="bg1"/>
              </a:solidFill>
            </a:endParaRPr>
          </a:p>
        </p:txBody>
      </p:sp>
      <p:pic>
        <p:nvPicPr>
          <p:cNvPr id="5" name="Picture 4">
            <a:extLst>
              <a:ext uri="{FF2B5EF4-FFF2-40B4-BE49-F238E27FC236}">
                <a16:creationId xmlns:a16="http://schemas.microsoft.com/office/drawing/2014/main" id="{69E78AF8-FB56-1F55-FCC6-1F71E9D9E582}"/>
              </a:ext>
            </a:extLst>
          </p:cNvPr>
          <p:cNvPicPr>
            <a:picLocks noChangeAspect="1"/>
          </p:cNvPicPr>
          <p:nvPr/>
        </p:nvPicPr>
        <p:blipFill>
          <a:blip r:embed="rId2"/>
          <a:stretch>
            <a:fillRect/>
          </a:stretch>
        </p:blipFill>
        <p:spPr>
          <a:xfrm>
            <a:off x="3062286" y="975302"/>
            <a:ext cx="6581775" cy="5580350"/>
          </a:xfrm>
          <a:prstGeom prst="rect">
            <a:avLst/>
          </a:prstGeom>
        </p:spPr>
      </p:pic>
    </p:spTree>
    <p:extLst>
      <p:ext uri="{BB962C8B-B14F-4D97-AF65-F5344CB8AC3E}">
        <p14:creationId xmlns:p14="http://schemas.microsoft.com/office/powerpoint/2010/main" val="2064382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9349</TotalTime>
  <Words>899</Words>
  <Application>Microsoft Office PowerPoint</Application>
  <PresentationFormat>Widescreen</PresentationFormat>
  <Paragraphs>160</Paragraphs>
  <Slides>29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Richard Bradford</dc:creator>
  <cp:lastModifiedBy>Rick Bradford</cp:lastModifiedBy>
  <cp:revision>22</cp:revision>
  <dcterms:created xsi:type="dcterms:W3CDTF">2025-05-07T15:35:27Z</dcterms:created>
  <dcterms:modified xsi:type="dcterms:W3CDTF">2026-04-30T22:52:09Z</dcterms:modified>
</cp:coreProperties>
</file>